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0"/>
            <a:ext cx="12191695" cy="457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4173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 i="0">
                <a:solidFill>
                  <a:srgbClr val="0064FF"/>
                </a:solidFill>
                <a:latin typeface="Poppins"/>
              </a:rPr>
              <a:t>AGENTIC OPS — REASONING AGENTS ON THE PREDICTIVE RPC ESTIMATOR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74519"/>
            <a:ext cx="109728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 i="0">
                <a:solidFill>
                  <a:srgbClr val="002659"/>
                </a:solidFill>
                <a:latin typeface="Poppins"/>
              </a:rPr>
              <a:t>From fixed guardrails to judgment</a:t>
            </a:r>
          </a:p>
          <a:p>
            <a:r>
              <a:rPr sz="2000" b="0" i="0">
                <a:solidFill>
                  <a:srgbClr val="212121"/>
                </a:solidFill>
                <a:latin typeface="Poppins"/>
              </a:rPr>
              <a:t>Three ADK reasoning agents on the live scoring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34840"/>
            <a:ext cx="10972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30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Scope    </a:t>
            </a:r>
            <a:r>
              <a:rPr sz="1400" b="0" i="0">
                <a:solidFill>
                  <a:srgbClr val="212121"/>
                </a:solidFill>
                <a:latin typeface="Poppins"/>
              </a:rPr>
              <a:t>Breaker triage · Bounds calibration · Drift triage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Runtime    </a:t>
            </a:r>
            <a:r>
              <a:rPr sz="1400" b="0" i="0">
                <a:solidFill>
                  <a:srgbClr val="212121"/>
                </a:solidFill>
                <a:latin typeface="Poppins"/>
              </a:rPr>
              <a:t>Google ADK on Cloud Run · europe-west2 · Gemini</a:t>
            </a:r>
          </a:p>
          <a:p>
            <a:pPr>
              <a:lnSpc>
                <a:spcPct val="130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Status    </a:t>
            </a:r>
            <a:r>
              <a:rPr sz="1400" b="0" i="0">
                <a:solidFill>
                  <a:srgbClr val="212121"/>
                </a:solidFill>
                <a:latin typeface="Poppins"/>
              </a:rPr>
              <a:t>Live on staging · reasoning verified against the model · CI green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4114800"/>
            <a:ext cx="12191695" cy="457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1153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0064FF"/>
                </a:solidFill>
                <a:latin typeface="Poppins"/>
              </a:rPr>
              <a:t>WHAT CHANGED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11535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5000"/>
              </a:lnSpc>
            </a:pPr>
            <a:r>
              <a:rPr sz="5000" b="1" i="0">
                <a:solidFill>
                  <a:srgbClr val="002659"/>
                </a:solidFill>
                <a:latin typeface="Poppins"/>
              </a:rPr>
              <a:t>The platform already decides. Now it can reason.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434840"/>
            <a:ext cx="1091153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</a:pPr>
            <a:r>
              <a:rPr sz="2100" b="0" i="0">
                <a:solidFill>
                  <a:srgbClr val="212121"/>
                </a:solidFill>
                <a:latin typeface="Poppins"/>
              </a:rPr>
              <a:t>The deterministic guardrails — bounds, breaker, drift scoring — are fast and provably correct, but they can't judge. Three places needed a human: triage an incident, trust a bounds change, act on drift. That judgment is now an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23560"/>
            <a:ext cx="1091153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000" b="1" i="0">
                <a:solidFill>
                  <a:srgbClr val="0064FF"/>
                </a:solidFill>
                <a:latin typeface="Poppins"/>
              </a:rPr>
              <a:t>UNCHANGED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Scoring hot path, reconciliation, activation — no LLM, no latency tax.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      </a:t>
            </a:r>
            <a:r>
              <a:rPr sz="1000" b="1" i="0">
                <a:solidFill>
                  <a:srgbClr val="0064FF"/>
                </a:solidFill>
                <a:latin typeface="Poppins"/>
              </a:rPr>
              <a:t>ADDED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Reasoning only where judgment lived.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      </a:t>
            </a:r>
            <a:r>
              <a:rPr sz="1000" b="1" i="0">
                <a:solidFill>
                  <a:srgbClr val="0064FF"/>
                </a:solidFill>
                <a:latin typeface="Poppins"/>
              </a:rPr>
              <a:t>SAFE  </a:t>
            </a:r>
            <a:r>
              <a:rPr sz="1100" b="0" i="0">
                <a:solidFill>
                  <a:srgbClr val="212121"/>
                </a:solidFill>
                <a:latin typeface="Poppins"/>
              </a:rPr>
              <a:t>Every agent write is schema-gated before it touches state.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Agentic Ops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2 / 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46304" wrap="square"/>
          <a:lstStyle/>
          <a:p>
            <a:pPr algn="ctr"/>
            <a:r>
              <a:rPr sz="1000" b="1" i="0">
                <a:solidFill>
                  <a:srgbClr val="79ADFF"/>
                </a:solidFill>
                <a:latin typeface="Poppins"/>
              </a:rPr>
              <a:t>THE ONE RULE THAT MAKES THIS SAFE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The LLM reasons. The domain decides.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325880"/>
            <a:ext cx="3576218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325880"/>
            <a:ext cx="3576218" cy="73152"/>
          </a:xfrm>
          <a:prstGeom prst="rect">
            <a:avLst/>
          </a:prstGeom>
          <a:solidFill>
            <a:srgbClr val="456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456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377440"/>
            <a:ext cx="3027578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800" b="1" i="0">
                <a:solidFill>
                  <a:srgbClr val="002659"/>
                </a:solidFill>
                <a:latin typeface="Poppins"/>
              </a:rPr>
              <a:t>Deterministic core stays</a:t>
            </a:r>
          </a:p>
          <a:p>
            <a:pPr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should_trip, propose_bounds, drift PSI verdicts remain pure, tested functions. The agent never recomputes them — it calls them as read-only tools.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07738" y="1325880"/>
            <a:ext cx="3576218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307738" y="1325880"/>
            <a:ext cx="3576218" cy="73152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582058" y="1645920"/>
            <a:ext cx="548640" cy="54864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82058" y="2377440"/>
            <a:ext cx="3027578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800" b="1" i="0">
                <a:solidFill>
                  <a:srgbClr val="002659"/>
                </a:solidFill>
                <a:latin typeface="Poppins"/>
              </a:rPr>
              <a:t>The LLM interprets</a:t>
            </a:r>
          </a:p>
          <a:p>
            <a:pPr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It reads the tool outputs and decides what they mean and which action to take — the judgment a human used to supply, now encoded and observable.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12556" y="1325880"/>
            <a:ext cx="3576218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112556" y="1325880"/>
            <a:ext cx="3576218" cy="73152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1645920"/>
            <a:ext cx="548640" cy="548640"/>
          </a:xfrm>
          <a:prstGeom prst="ellipse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6876" y="2377440"/>
            <a:ext cx="3027578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0000"/>
              </a:lnSpc>
            </a:pPr>
            <a:r>
              <a:rPr sz="1800" b="1" i="0">
                <a:solidFill>
                  <a:srgbClr val="002659"/>
                </a:solidFill>
                <a:latin typeface="Poppins"/>
              </a:rPr>
              <a:t>The write is schema-gated</a:t>
            </a:r>
          </a:p>
          <a:p>
            <a:pPr>
              <a:lnSpc>
                <a:spcPct val="132000"/>
              </a:lnSpc>
              <a:spcBef>
                <a:spcPts val="1000"/>
              </a:spcBef>
            </a:pPr>
            <a:r>
              <a:rPr sz="1200" b="0" i="0">
                <a:solidFill>
                  <a:srgbClr val="212121"/>
                </a:solidFill>
                <a:latin typeface="Poppins"/>
              </a:rPr>
              <a:t>Agent output is validated against an explicit schema, then a domain value object, before any retrain / PR / page. The model cannot act on free text.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257800"/>
            <a:ext cx="1118585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 i="1">
                <a:solidFill>
                  <a:srgbClr val="7D7D7D"/>
                </a:solidFill>
                <a:latin typeface="Poppins"/>
              </a:rPr>
              <a:t>Result: domain logic keeps its ≥95% test floor; nondeterminism is contained to the reasoning layer and verified by evals.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Agentic Ops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46304" wrap="square"/>
          <a:lstStyle/>
          <a:p>
            <a:pPr algn="ctr"/>
            <a:r>
              <a:rPr sz="1000" b="1" i="0">
                <a:solidFill>
                  <a:srgbClr val="79ADFF"/>
                </a:solidFill>
                <a:latin typeface="Poppins"/>
              </a:rPr>
              <a:t>WHAT EACH REASONS ABOUT — AND WHAT STAYS DETERMINISTIC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Three agents, one bounded context each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3576218" cy="4069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3576218" cy="54864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600" b="1" i="0">
                <a:solidFill>
                  <a:srgbClr val="FFFFFF"/>
                </a:solidFill>
                <a:latin typeface="Poppins"/>
              </a:rPr>
              <a:t>Breaker triage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1920240"/>
            <a:ext cx="317388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064FF"/>
                </a:solidFill>
                <a:latin typeface="Poppins"/>
              </a:rPr>
              <a:t>REASONS ABOUT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50" b="0" i="0">
                <a:solidFill>
                  <a:srgbClr val="212121"/>
                </a:solidFill>
                <a:latin typeface="Poppins"/>
              </a:rPr>
              <a:t>Decides escalation after a trip: severity, page vs annotate.</a:t>
            </a:r>
          </a:p>
          <a:p>
            <a:r>
              <a:rPr sz="900" b="1" i="0">
                <a:solidFill>
                  <a:srgbClr val="0064FF"/>
                </a:solidFill>
                <a:latin typeface="Poppins"/>
              </a:rPr>
              <a:t>STAYS DETERMINISTIC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12121"/>
                </a:solidFill>
                <a:latin typeface="Poppins"/>
              </a:rPr>
              <a:t>should_trip → engage (trip path untouched)</a:t>
            </a:r>
          </a:p>
          <a:p>
            <a:r>
              <a:rPr sz="900" b="1" i="0">
                <a:solidFill>
                  <a:srgbClr val="0064FF"/>
                </a:solidFill>
                <a:latin typeface="Poppins"/>
              </a:rPr>
              <a:t>TRIGGER</a:t>
            </a:r>
          </a:p>
          <a:p>
            <a:pPr>
              <a:lnSpc>
                <a:spcPct val="125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Pub/Sub push on rpc-anomaly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07738" y="1188720"/>
            <a:ext cx="3576218" cy="4069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07738" y="1188720"/>
            <a:ext cx="3576218" cy="54864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600" b="1" i="0">
                <a:solidFill>
                  <a:srgbClr val="FFFFFF"/>
                </a:solidFill>
                <a:latin typeface="Poppins"/>
              </a:rPr>
              <a:t>Bounds calibration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8906" y="1920240"/>
            <a:ext cx="317388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4285F4"/>
                </a:solidFill>
                <a:latin typeface="Poppins"/>
              </a:rPr>
              <a:t>REASONS ABOUT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50" b="0" i="0">
                <a:solidFill>
                  <a:srgbClr val="212121"/>
                </a:solidFill>
                <a:latin typeface="Poppins"/>
              </a:rPr>
              <a:t>Judges a proposed bounds change: genuine shift vs transient vs noise.</a:t>
            </a:r>
          </a:p>
          <a:p>
            <a:r>
              <a:rPr sz="900" b="1" i="0">
                <a:solidFill>
                  <a:srgbClr val="4285F4"/>
                </a:solidFill>
                <a:latin typeface="Poppins"/>
              </a:rPr>
              <a:t>STAYS DETERMINISTIC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12121"/>
                </a:solidFill>
                <a:latin typeface="Poppins"/>
              </a:rPr>
              <a:t>propose_bounds (the numbers)</a:t>
            </a:r>
          </a:p>
          <a:p>
            <a:r>
              <a:rPr sz="900" b="1" i="0">
                <a:solidFill>
                  <a:srgbClr val="4285F4"/>
                </a:solidFill>
                <a:latin typeface="Poppins"/>
              </a:rPr>
              <a:t>TRIGGER</a:t>
            </a:r>
          </a:p>
          <a:p>
            <a:pPr>
              <a:lnSpc>
                <a:spcPct val="125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Cloud Scheduler · weekly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12556" y="1188720"/>
            <a:ext cx="3576218" cy="4069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112556" y="1188720"/>
            <a:ext cx="3576218" cy="54864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/>
          <a:lstStyle/>
          <a:p>
            <a:pPr algn="ctr"/>
            <a:r>
              <a:rPr sz="1600" b="1" i="0">
                <a:solidFill>
                  <a:srgbClr val="FFFFFF"/>
                </a:solidFill>
                <a:latin typeface="Poppins"/>
              </a:rPr>
              <a:t>Drift triage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13724" y="1920240"/>
            <a:ext cx="3173882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 i="0">
                <a:solidFill>
                  <a:srgbClr val="002659"/>
                </a:solidFill>
                <a:latin typeface="Poppins"/>
              </a:rPr>
              <a:t>REASONS ABOUT</a:t>
            </a:r>
          </a:p>
          <a:p>
            <a:pPr>
              <a:lnSpc>
                <a:spcPct val="128000"/>
              </a:lnSpc>
              <a:spcAft>
                <a:spcPts val="1000"/>
              </a:spcAft>
            </a:pPr>
            <a:r>
              <a:rPr sz="1250" b="0" i="0">
                <a:solidFill>
                  <a:srgbClr val="212121"/>
                </a:solidFill>
                <a:latin typeface="Poppins"/>
              </a:rPr>
              <a:t>Decides retrain / alert / noop and names the driver features.</a:t>
            </a:r>
          </a:p>
          <a:p>
            <a:r>
              <a:rPr sz="900" b="1" i="0">
                <a:solidFill>
                  <a:srgbClr val="002659"/>
                </a:solidFill>
                <a:latin typeface="Poppins"/>
              </a:rPr>
              <a:t>STAYS DETERMINISTIC</a:t>
            </a:r>
          </a:p>
          <a:p>
            <a:pPr>
              <a:lnSpc>
                <a:spcPct val="125000"/>
              </a:lnSpc>
              <a:spcAft>
                <a:spcPts val="1000"/>
              </a:spcAft>
            </a:pPr>
            <a:r>
              <a:rPr sz="1100" b="0" i="0">
                <a:solidFill>
                  <a:srgbClr val="212121"/>
                </a:solidFill>
                <a:latin typeface="Poppins"/>
              </a:rPr>
              <a:t>detect_drift + PSI verdicts</a:t>
            </a:r>
          </a:p>
          <a:p>
            <a:r>
              <a:rPr sz="900" b="1" i="0">
                <a:solidFill>
                  <a:srgbClr val="002659"/>
                </a:solidFill>
                <a:latin typeface="Poppins"/>
              </a:rPr>
              <a:t>TRIGGER</a:t>
            </a:r>
          </a:p>
          <a:p>
            <a:pPr>
              <a:lnSpc>
                <a:spcPct val="125000"/>
              </a:lnSpc>
            </a:pPr>
            <a:r>
              <a:rPr sz="1100" b="0" i="0">
                <a:solidFill>
                  <a:srgbClr val="212121"/>
                </a:solidFill>
                <a:latin typeface="Poppins"/>
              </a:rPr>
              <a:t>Cloud Scheduler · daily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Agentic 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46304" wrap="square"/>
          <a:lstStyle/>
          <a:p>
            <a:pPr algn="ctr"/>
            <a:r>
              <a:rPr sz="1000" b="1" i="0">
                <a:solidFill>
                  <a:srgbClr val="79ADFF"/>
                </a:solidFill>
                <a:latin typeface="Poppins"/>
              </a:rPr>
              <a:t>SAME SHAPE FOR ALL THREE — TRIGGER TO GATED WRITE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How an agent is wired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65760" y="1143000"/>
            <a:ext cx="2625013" cy="4892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143000"/>
            <a:ext cx="2625013" cy="457200"/>
          </a:xfrm>
          <a:prstGeom prst="rect">
            <a:avLst/>
          </a:prstGeom>
          <a:solidFill>
            <a:srgbClr val="456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97864"/>
            <a:ext cx="235069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TRIGGER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737360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Pub/Sub push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breaker — rpc-anomaly topic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3118104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Cloud Scheduler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bounds (weekly) · drift (daily)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498848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FastAPI on Cloud Run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scales to zero · /health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016173.75" y="3589020.0"/>
            <a:ext cx="269240.0" cy="0.0"/>
          </a:xfrm>
          <a:prstGeom prst="bentConnector3">
            <a:avLst/>
          </a:prstGeom>
          <a:ln w="25400">
            <a:solidFill>
              <a:srgbClr val="7D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310813" y="1143000"/>
            <a:ext cx="2625013" cy="4892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0813" y="1143000"/>
            <a:ext cx="2625013" cy="4572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47973" y="1197864"/>
            <a:ext cx="235069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AGENT (ADK)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47973" y="1737360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Investigator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read-only tools gather evidence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47973" y="3118104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Decider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forced output schema, no tools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47973" y="4498848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Gemini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via API key — region-independent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961227.5" y="3589020.0"/>
            <a:ext cx="269240.0" cy="0.0"/>
          </a:xfrm>
          <a:prstGeom prst="bentConnector3">
            <a:avLst/>
          </a:prstGeom>
          <a:ln w="25400">
            <a:solidFill>
              <a:srgbClr val="7D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255867" y="1143000"/>
            <a:ext cx="2625013" cy="4892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55867" y="1143000"/>
            <a:ext cx="2625013" cy="45720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93027" y="1197864"/>
            <a:ext cx="235069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READ-ONLY TOOLS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93027" y="1737360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Deterministic core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should_trip · propose_bounds · drift PSI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93027" y="3118104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BigQuery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psi_daily · rpc_predictions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93027" y="4498848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Model registry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latest model version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906281.25" y="3589020.0"/>
            <a:ext cx="269240.0" cy="0.0"/>
          </a:xfrm>
          <a:prstGeom prst="bentConnector3">
            <a:avLst/>
          </a:prstGeom>
          <a:ln w="25400">
            <a:solidFill>
              <a:srgbClr val="7D7D7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200921" y="1143000"/>
            <a:ext cx="2625013" cy="4892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200921" y="1143000"/>
            <a:ext cx="2625013" cy="4572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38081" y="1197864"/>
            <a:ext cx="2350693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GATED WRITE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338081" y="1737360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Schema gate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Pydantic → domain value object (§4)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338081" y="3118104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Dispatch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page · open PR · trigger retrain Job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38081" y="4498848"/>
            <a:ext cx="2350693" cy="1234440"/>
          </a:xfrm>
          <a:prstGeom prst="roundRect">
            <a:avLst>
              <a:gd name="adj" fmla="val 10000"/>
            </a:avLst>
          </a:prstGeom>
          <a:solidFill>
            <a:srgbClr val="E7F0FE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tIns="128016" bIns="73152" wrap="square"/>
          <a:lstStyle/>
          <a:p>
            <a:pPr algn="ctr"/>
            <a:r>
              <a:rPr sz="1100" b="1" i="0">
                <a:solidFill>
                  <a:srgbClr val="002659"/>
                </a:solidFill>
                <a:latin typeface="Poppins"/>
              </a:rPr>
              <a:t>Per-AI-call log</a:t>
            </a:r>
          </a:p>
          <a:p>
            <a:pPr>
              <a:lnSpc>
                <a:spcPct val="115000"/>
              </a:lnSpc>
            </a:pPr>
            <a:r>
              <a:rPr sz="900" b="0" i="0">
                <a:solidFill>
                  <a:srgbClr val="212121"/>
                </a:solidFill>
                <a:latin typeface="Poppins"/>
              </a:rPr>
              <a:t>model · tokens · cost (§6)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Agentic Ops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46304" wrap="square"/>
          <a:lstStyle/>
          <a:p>
            <a:pPr algn="ctr"/>
            <a:r>
              <a:rPr sz="1000" b="1" i="0">
                <a:solidFill>
                  <a:srgbClr val="79ADFF"/>
                </a:solidFill>
                <a:latin typeface="Poppins"/>
              </a:rPr>
              <a:t>WHY A NON-DETERMINISTIC AGENT IS ALLOWED TO ACT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Safe by construction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097280"/>
            <a:ext cx="5478627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1325880"/>
            <a:ext cx="502920" cy="50292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371600"/>
            <a:ext cx="44270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002659"/>
                </a:solidFill>
                <a:latin typeface="Poppins"/>
              </a:rPr>
              <a:t>Writes are schema-gated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Agent emits a validated structured output, mapped to a domain value object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Invariants enforced in the constructor — bad output raises before any side effect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The LLM cannot retrain, open a PR or page on free text (§4)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147" y="1097280"/>
            <a:ext cx="5478627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6438747" y="1325880"/>
            <a:ext cx="502920" cy="50292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78827" y="1371600"/>
            <a:ext cx="44270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002659"/>
                </a:solidFill>
                <a:latin typeface="Poppins"/>
              </a:rPr>
              <a:t>Least-privilege per agent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8747" y="196596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One service account per agent; scoped IAM in Terraform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Breaker can't trip the breaker; bounds can't retrain; none hold broad keys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4285F4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Self-hosted on Cloud Run, scale-to-zero — cost only when triggered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3703320"/>
            <a:ext cx="5478627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31520" y="3931920"/>
            <a:ext cx="502920" cy="502920"/>
          </a:xfrm>
          <a:prstGeom prst="ellipse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977640"/>
            <a:ext cx="44270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002659"/>
                </a:solidFill>
                <a:latin typeface="Poppins"/>
              </a:rPr>
              <a:t>Verified reasoning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7200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002659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Hermetic eval suites run each agent against the real model per scenario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002659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Asserts discrimination: escalate vs not, retrain vs not, PR vs not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002659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Runs in CI; transient model flakiness absorbed by reruns (ADR 0006)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0147" y="3703320"/>
            <a:ext cx="5478627" cy="2377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438747" y="3931920"/>
            <a:ext cx="502920" cy="502920"/>
          </a:xfrm>
          <a:prstGeom prst="ellipse">
            <a:avLst/>
          </a:prstGeom>
          <a:solidFill>
            <a:srgbClr val="4560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 i="0">
                <a:solidFill>
                  <a:srgbClr val="FFFFFF"/>
                </a:solidFill>
                <a:latin typeface="Poppins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78827" y="3977640"/>
            <a:ext cx="4427067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 i="0">
                <a:solidFill>
                  <a:srgbClr val="002659"/>
                </a:solidFill>
                <a:latin typeface="Poppins"/>
              </a:rPr>
              <a:t>Observable + reversible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8747" y="4572000"/>
            <a:ext cx="5021427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456085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Per-AI-call log: model, prompt hash, tokens, cost (§6)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456085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Deterministic cores keep their ≥95% test floor — unchanged</a:t>
            </a:r>
          </a:p>
          <a:p>
            <a:pPr>
              <a:lnSpc>
                <a:spcPct val="122000"/>
              </a:lnSpc>
              <a:spcAft>
                <a:spcPts val="300"/>
              </a:spcAft>
            </a:pPr>
            <a:r>
              <a:rPr sz="1000" b="1" i="0">
                <a:solidFill>
                  <a:srgbClr val="456085"/>
                </a:solidFill>
                <a:latin typeface="Poppins"/>
              </a:rPr>
              <a:t>•  </a:t>
            </a:r>
            <a:r>
              <a:rPr sz="1000" b="0" i="0">
                <a:solidFill>
                  <a:srgbClr val="212121"/>
                </a:solidFill>
                <a:latin typeface="Poppins"/>
              </a:rPr>
              <a:t>Gated behind DEPLOY_AGENTS; off = removed, re-tag = redeployed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Agentic 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46304" wrap="square"/>
          <a:lstStyle/>
          <a:p>
            <a:pPr algn="ctr"/>
            <a:r>
              <a:rPr sz="1000" b="1" i="0">
                <a:solidFill>
                  <a:srgbClr val="79ADFF"/>
                </a:solidFill>
                <a:latin typeface="Poppins"/>
              </a:rPr>
              <a:t>CLOUD RUN · EUROPE-WEST2 · OPT-IN GATED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Live on staging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234440"/>
            <a:ext cx="11185855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234440"/>
            <a:ext cx="91440" cy="105156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362456"/>
            <a:ext cx="10728655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002659"/>
                </a:solidFill>
                <a:latin typeface="Poppins"/>
              </a:rPr>
              <a:t>Breaker triage    </a:t>
            </a:r>
            <a:r>
              <a:rPr sz="1100" b="0" i="0">
                <a:solidFill>
                  <a:srgbClr val="7D7D7D"/>
                </a:solidFill>
                <a:latin typeface="Poppins"/>
              </a:rPr>
              <a:t>Pub/Sub push · rpc-anomaly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0064FF"/>
                </a:solidFill>
                <a:latin typeface="Poppins"/>
              </a:rPr>
              <a:t>https://breaker-agent-staging-ifcjcfl7xa-nw.a.run.app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468880"/>
            <a:ext cx="11185855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2468880"/>
            <a:ext cx="91440" cy="1051560"/>
          </a:xfrm>
          <a:prstGeom prst="rect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596896"/>
            <a:ext cx="10728655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002659"/>
                </a:solidFill>
                <a:latin typeface="Poppins"/>
              </a:rPr>
              <a:t>Bounds calibration    </a:t>
            </a:r>
            <a:r>
              <a:rPr sz="1100" b="0" i="0">
                <a:solidFill>
                  <a:srgbClr val="7D7D7D"/>
                </a:solidFill>
                <a:latin typeface="Poppins"/>
              </a:rPr>
              <a:t>Cloud Scheduler · Mon 06:00 UTC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0064FF"/>
                </a:solidFill>
                <a:latin typeface="Poppins"/>
              </a:rPr>
              <a:t>https://bounds-agent-staging-ifcjcfl7xa-nw.a.run.app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703320"/>
            <a:ext cx="11185855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3703320"/>
            <a:ext cx="91440" cy="105156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831336"/>
            <a:ext cx="10728655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 i="0">
                <a:solidFill>
                  <a:srgbClr val="002659"/>
                </a:solidFill>
                <a:latin typeface="Poppins"/>
              </a:rPr>
              <a:t>Drift triage    </a:t>
            </a:r>
            <a:r>
              <a:rPr sz="1100" b="0" i="0">
                <a:solidFill>
                  <a:srgbClr val="7D7D7D"/>
                </a:solidFill>
                <a:latin typeface="Poppins"/>
              </a:rPr>
              <a:t>Cloud Scheduler · daily 06:30 UTC</a:t>
            </a:r>
          </a:p>
          <a:p>
            <a:pPr>
              <a:spcBef>
                <a:spcPts val="400"/>
              </a:spcBef>
            </a:pPr>
            <a:r>
              <a:rPr sz="1200" b="0" i="0">
                <a:solidFill>
                  <a:srgbClr val="0064FF"/>
                </a:solidFill>
                <a:latin typeface="Poppins"/>
              </a:rPr>
              <a:t>https://drift-agent-staging-ifcjcfl7xa-nw.a.run.app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166360"/>
            <a:ext cx="11185855" cy="868680"/>
          </a:xfrm>
          <a:prstGeom prst="rect">
            <a:avLst/>
          </a:prstGeom>
          <a:solidFill>
            <a:srgbClr val="05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 tIns="128016" wrap="square"/>
          <a:lstStyle/>
          <a:p>
            <a:pPr algn="ctr"/>
            <a:r>
              <a:rPr sz="1000" b="1" i="0">
                <a:solidFill>
                  <a:srgbClr val="79ADFF"/>
                </a:solidFill>
                <a:latin typeface="Poppins"/>
              </a:rPr>
              <a:t>OPT-IN, ZERO COST UNTIL ON   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DEPLOY_AGENTS=true + a version tag builds the images and applies the Terraform.</a:t>
            </a:r>
          </a:p>
          <a:p>
            <a:pPr>
              <a:spcBef>
                <a:spcPts val="600"/>
              </a:spcBef>
            </a:pPr>
            <a:r>
              <a:rPr sz="1100" b="0" i="0">
                <a:solidFill>
                  <a:srgbClr val="E7F0FE"/>
                </a:solidFill>
                <a:latin typeface="Poppins"/>
              </a:rPr>
              <a:t>Each service scales to zero and is auth-locked — only its own SA, the scheduler and Pub/Sub can invoke it.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Agentic Ops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7 / 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46304" wrap="square"/>
          <a:lstStyle/>
          <a:p>
            <a:pPr algn="ctr"/>
            <a:r>
              <a:rPr sz="1000" b="1" i="0">
                <a:solidFill>
                  <a:srgbClr val="79ADFF"/>
                </a:solidFill>
                <a:latin typeface="Poppins"/>
              </a:rPr>
              <a:t>FIVE STEPS · ONE TERMINAL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How to run the demo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1188720"/>
            <a:ext cx="457200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" y="1426464"/>
            <a:ext cx="457200" cy="45720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Poppin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298448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2659"/>
                </a:solidFill>
                <a:latin typeface="Poppins"/>
              </a:rPr>
              <a:t>Show it's live</a:t>
            </a:r>
          </a:p>
          <a:p>
            <a:pPr>
              <a:lnSpc>
                <a:spcPct val="118000"/>
              </a:lnSpc>
            </a:pPr>
            <a:r>
              <a:rPr sz="1050" b="0" i="0">
                <a:solidFill>
                  <a:srgbClr val="212121"/>
                </a:solidFill>
                <a:latin typeface="Poppins"/>
              </a:rPr>
              <a:t>Three Cloud Run services, Ready, scaled to zero.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231136"/>
            <a:ext cx="457200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7512" y="2468880"/>
            <a:ext cx="457200" cy="457200"/>
          </a:xfrm>
          <a:prstGeom prst="ellipse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Poppins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340864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2659"/>
                </a:solidFill>
                <a:latin typeface="Poppins"/>
              </a:rPr>
              <a:t>Breaker triage, end to end</a:t>
            </a:r>
          </a:p>
          <a:p>
            <a:pPr>
              <a:lnSpc>
                <a:spcPct val="118000"/>
              </a:lnSpc>
            </a:pPr>
            <a:r>
              <a:rPr sz="1050" b="0" i="0">
                <a:solidFill>
                  <a:srgbClr val="212121"/>
                </a:solidFill>
                <a:latin typeface="Poppins"/>
              </a:rPr>
              <a:t>Publish a synthetic anomaly; the agent reasons and escalates to the incident topic.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3273552"/>
            <a:ext cx="457200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67512" y="3511296"/>
            <a:ext cx="457200" cy="45720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Poppins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383280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2659"/>
                </a:solidFill>
                <a:latin typeface="Poppins"/>
              </a:rPr>
              <a:t>Drift triage</a:t>
            </a:r>
          </a:p>
          <a:p>
            <a:pPr>
              <a:lnSpc>
                <a:spcPct val="118000"/>
              </a:lnSpc>
            </a:pPr>
            <a:r>
              <a:rPr sz="1050" b="0" i="0">
                <a:solidFill>
                  <a:srgbClr val="212121"/>
                </a:solidFill>
                <a:latin typeface="Poppins"/>
              </a:rPr>
              <a:t>Fire the daily job; watch the retrain/alert/noop decision in the logs.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4315968"/>
            <a:ext cx="457200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7512" y="4553712"/>
            <a:ext cx="457200" cy="457200"/>
          </a:xfrm>
          <a:prstGeom prst="ellipse">
            <a:avLst/>
          </a:prstGeom>
          <a:solidFill>
            <a:srgbClr val="4285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Poppins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425696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2659"/>
                </a:solidFill>
                <a:latin typeface="Poppins"/>
              </a:rPr>
              <a:t>Bounds calibration</a:t>
            </a:r>
          </a:p>
          <a:p>
            <a:pPr>
              <a:lnSpc>
                <a:spcPct val="118000"/>
              </a:lnSpc>
            </a:pPr>
            <a:r>
              <a:rPr sz="1050" b="0" i="0">
                <a:solidFill>
                  <a:srgbClr val="212121"/>
                </a:solidFill>
                <a:latin typeface="Poppins"/>
              </a:rPr>
              <a:t>Fire the weekly job; watch the genuine-shift vs transient verdict.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358384"/>
            <a:ext cx="4572000" cy="9326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67512" y="5596128"/>
            <a:ext cx="457200" cy="457200"/>
          </a:xfrm>
          <a:prstGeom prst="ellipse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Poppins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468112"/>
            <a:ext cx="3657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 i="0">
                <a:solidFill>
                  <a:srgbClr val="002659"/>
                </a:solidFill>
                <a:latin typeface="Poppins"/>
              </a:rPr>
              <a:t>Reasoning quality</a:t>
            </a:r>
          </a:p>
          <a:p>
            <a:pPr>
              <a:lnSpc>
                <a:spcPct val="118000"/>
              </a:lnSpc>
            </a:pPr>
            <a:r>
              <a:rPr sz="1050" b="0" i="0">
                <a:solidFill>
                  <a:srgbClr val="212121"/>
                </a:solidFill>
                <a:latin typeface="Poppins"/>
              </a:rPr>
              <a:t>Run the hermetic eval suites against the live model.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57800" y="1188720"/>
            <a:ext cx="6430975" cy="5074920"/>
          </a:xfrm>
          <a:prstGeom prst="roundRect">
            <a:avLst>
              <a:gd name="adj" fmla="val 5000"/>
            </a:avLst>
          </a:prstGeom>
          <a:solidFill>
            <a:srgbClr val="0516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01168" rIns="164592" tIns="128016" bIns="91440" wrap="square"/>
          <a:lstStyle/>
          <a:p>
            <a:pPr algn="ctr">
              <a:lnSpc>
                <a:spcPct val="118000"/>
              </a:lnSpc>
            </a:pPr>
            <a:r>
              <a:rPr sz="1000" b="0" i="1">
                <a:solidFill>
                  <a:srgbClr val="D2E3FC"/>
                </a:solidFill>
                <a:latin typeface="Poppins"/>
              </a:rPr>
              <a:t># 1 — it's live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gcloud run services list --project msm-rpc \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  --region europe-west2 --filter name~agent</a:t>
            </a:r>
          </a:p>
          <a:p>
            <a:pPr>
              <a:lnSpc>
                <a:spcPct val="118000"/>
              </a:lnSpc>
            </a:pPr>
            <a:r>
              <a:rPr sz="1000" b="0" i="1">
                <a:solidFill>
                  <a:srgbClr val="D2E3FC"/>
                </a:solidFill>
                <a:latin typeface="Poppins"/>
              </a:rPr>
              <a:t># 2 — breaker triage end-to-end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gcloud pubsub topics publish rpc-anomaly-staging \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  --project msm-rpc --message \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  '{"kind":"null_or_zero_rate","value":0.08,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   "threshold":0.03,"occurred_at_ms":1717000000000}'</a:t>
            </a:r>
          </a:p>
          <a:p>
            <a:pPr>
              <a:lnSpc>
                <a:spcPct val="118000"/>
              </a:lnSpc>
            </a:pPr>
            <a:r>
              <a:rPr sz="1000" b="0" i="1">
                <a:solidFill>
                  <a:srgbClr val="D2E3FC"/>
                </a:solidFill>
                <a:latin typeface="Poppins"/>
              </a:rPr>
              <a:t># 3 — drift   # 4 — bounds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gcloud scheduler jobs run drift-agent-staging \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  --project msm-rpc --location europe-west2</a:t>
            </a:r>
          </a:p>
          <a:p>
            <a:pPr>
              <a:lnSpc>
                <a:spcPct val="118000"/>
              </a:lnSpc>
            </a:pPr>
            <a:r>
              <a:rPr sz="1000" b="0" i="1">
                <a:solidFill>
                  <a:srgbClr val="D2E3FC"/>
                </a:solidFill>
                <a:latin typeface="Poppins"/>
              </a:rPr>
              <a:t># watch any agent's reasoning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gcloud logging read \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  'resource.labels.service_name="breaker-agent-staging"' \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  --project msm-rpc --limit 10 --freshness 5m</a:t>
            </a:r>
          </a:p>
          <a:p>
            <a:pPr>
              <a:lnSpc>
                <a:spcPct val="118000"/>
              </a:lnSpc>
            </a:pPr>
            <a:r>
              <a:rPr sz="1000" b="0" i="1">
                <a:solidFill>
                  <a:srgbClr val="D2E3FC"/>
                </a:solidFill>
                <a:latin typeface="Poppins"/>
              </a:rPr>
              <a:t># 5 — reasoning verified against the model</a:t>
            </a:r>
          </a:p>
          <a:p>
            <a:pPr>
              <a:lnSpc>
                <a:spcPct val="118000"/>
              </a:lnSpc>
            </a:pPr>
            <a:r>
              <a:rPr sz="1100" b="1" i="0">
                <a:solidFill>
                  <a:srgbClr val="79ADFF"/>
                </a:solidFill>
                <a:latin typeface="Poppins"/>
              </a:rPr>
              <a:t>$ </a:t>
            </a:r>
            <a:r>
              <a:rPr sz="1100" b="0" i="0">
                <a:solidFill>
                  <a:srgbClr val="FFFFFF"/>
                </a:solidFill>
                <a:latin typeface="Poppins"/>
              </a:rPr>
              <a:t>pytest -k eval -v   # in each agent service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Agentic Ops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8 / 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146304" wrap="square"/>
          <a:lstStyle/>
          <a:p>
            <a:pPr algn="ctr"/>
            <a:r>
              <a:rPr sz="1000" b="1" i="0">
                <a:solidFill>
                  <a:srgbClr val="79ADFF"/>
                </a:solidFill>
                <a:latin typeface="Poppins"/>
              </a:rPr>
              <a:t>EACH AGENT DISCRIMINATES THE RIGHT WAY — AGAINST THE REAL MODEL</a:t>
            </a:r>
          </a:p>
          <a:p>
            <a:r>
              <a:rPr sz="2400" b="1" i="0">
                <a:solidFill>
                  <a:srgbClr val="FFFFFF"/>
                </a:solidFill>
                <a:latin typeface="Poppins"/>
              </a:rPr>
              <a:t>Proven, not just plausible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1097280" cy="3810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280160"/>
            <a:ext cx="11185855" cy="457200"/>
          </a:xfrm>
          <a:prstGeom prst="rect">
            <a:avLst/>
          </a:prstGeom>
          <a:solidFill>
            <a:srgbClr val="0026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35024"/>
            <a:ext cx="29260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566160" y="1335024"/>
            <a:ext cx="46785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HIGH-ACTION SCENARIO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44687" y="1335024"/>
            <a:ext cx="4678527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 i="0">
                <a:solidFill>
                  <a:srgbClr val="FFFFFF"/>
                </a:solidFill>
                <a:latin typeface="Poppins"/>
              </a:rPr>
              <a:t>LOW-ACTION SCENARIO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737360"/>
            <a:ext cx="1118585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901952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02659"/>
                </a:solidFill>
                <a:latin typeface="Poppins"/>
              </a:rPr>
              <a:t>Breaker triage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901952"/>
            <a:ext cx="4495647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Severe sustained breach → escalate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44687" y="1901952"/>
            <a:ext cx="4495647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Marginal blip → not a SEV1 page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606040"/>
            <a:ext cx="11185855" cy="868680"/>
          </a:xfrm>
          <a:prstGeom prst="rect">
            <a:avLst/>
          </a:prstGeom>
          <a:solidFill>
            <a:srgbClr val="E2EEFF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770632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02659"/>
                </a:solidFill>
                <a:latin typeface="Poppins"/>
              </a:rPr>
              <a:t>Bounds calibration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2770632"/>
            <a:ext cx="4495647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Sustained shift → opens a PR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4687" y="2770632"/>
            <a:ext cx="4495647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Single spike day → declines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474720"/>
            <a:ext cx="11185855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D2E3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39312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002659"/>
                </a:solidFill>
                <a:latin typeface="Poppins"/>
              </a:rPr>
              <a:t>Drift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3639312"/>
            <a:ext cx="4495647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Multi-feature breach → retrain / alert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4687" y="3639312"/>
            <a:ext cx="4495647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 i="0">
                <a:solidFill>
                  <a:srgbClr val="0064FF"/>
                </a:solidFill>
                <a:latin typeface="Poppins"/>
              </a:rPr>
              <a:t>✓  </a:t>
            </a:r>
            <a:r>
              <a:rPr sz="1200" b="0" i="0">
                <a:solidFill>
                  <a:srgbClr val="212121"/>
                </a:solidFill>
                <a:latin typeface="Poppins"/>
              </a:rPr>
              <a:t>Single warn → no retrain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074920"/>
            <a:ext cx="1118585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sz="1200" b="0" i="0">
                <a:solidFill>
                  <a:srgbClr val="212121"/>
                </a:solidFill>
                <a:latin typeface="Poppins"/>
              </a:rPr>
              <a:t>Verified in CI against Gemini — the eval job is green on every push. </a:t>
            </a:r>
            <a:r>
              <a:rPr sz="1200" b="1" i="0">
                <a:solidFill>
                  <a:srgbClr val="0064FF"/>
                </a:solidFill>
                <a:latin typeface="Poppins"/>
              </a:rPr>
              <a:t>Deterministic cores carry their own unit tests at the ≥95% / ≥85% floors.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E7F0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0" tIns="54864"/>
          <a:lstStyle/>
          <a:p>
            <a:pPr algn="ctr"/>
            <a:r>
              <a:rPr sz="900" b="0" i="0">
                <a:solidFill>
                  <a:srgbClr val="7D7D7D"/>
                </a:solidFill>
                <a:latin typeface="Poppins"/>
              </a:rPr>
              <a:t>Predictive RPC Estimator — Agentic Ops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94415" y="6547104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0" i="0">
                <a:solidFill>
                  <a:srgbClr val="7D7D7D"/>
                </a:solidFill>
                <a:latin typeface="Poppins"/>
              </a:rPr>
              <a:t>9 / 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45720"/>
          </a:xfrm>
          <a:prstGeom prst="rect">
            <a:avLst/>
          </a:prstGeom>
          <a:solidFill>
            <a:srgbClr val="006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 i="0">
                <a:solidFill>
                  <a:srgbClr val="0064FF"/>
                </a:solidFill>
                <a:latin typeface="Poppins"/>
              </a:rPr>
              <a:t>WHAT'S NEXT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109728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 i="0">
                <a:solidFill>
                  <a:srgbClr val="002659"/>
                </a:solidFill>
                <a:latin typeface="Poppins"/>
              </a:rPr>
              <a:t>Live, gated, and ready for signal.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520440"/>
            <a:ext cx="109728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  <a:p>
            <a:pPr>
              <a:lnSpc>
                <a:spcPct val="140000"/>
              </a:lnSpc>
            </a:pPr>
            <a:r>
              <a:rPr sz="16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600" b="1" i="0">
                <a:solidFill>
                  <a:srgbClr val="002659"/>
                </a:solidFill>
                <a:latin typeface="Poppins"/>
              </a:rPr>
              <a:t>Add the GitHub token — </a:t>
            </a:r>
            <a:r>
              <a:rPr sz="1500" b="0" i="0">
                <a:solidFill>
                  <a:srgbClr val="212121"/>
                </a:solidFill>
                <a:latin typeface="Poppins"/>
              </a:rPr>
              <a:t>so the bounds agent can open recalibration PRs (Contents + PR write).</a:t>
            </a:r>
          </a:p>
          <a:p>
            <a:pPr>
              <a:lnSpc>
                <a:spcPct val="140000"/>
              </a:lnSpc>
            </a:pPr>
            <a:r>
              <a:rPr sz="16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600" b="1" i="0">
                <a:solidFill>
                  <a:srgbClr val="002659"/>
                </a:solidFill>
                <a:latin typeface="Poppins"/>
              </a:rPr>
              <a:t>Materialize psi_daily — </a:t>
            </a:r>
            <a:r>
              <a:rPr sz="1500" b="0" i="0">
                <a:solidFill>
                  <a:srgbClr val="212121"/>
                </a:solidFill>
                <a:latin typeface="Poppins"/>
              </a:rPr>
              <a:t>run Dataform in staging — until then drift &amp; signal correlation see no data.</a:t>
            </a:r>
          </a:p>
          <a:p>
            <a:pPr>
              <a:lnSpc>
                <a:spcPct val="140000"/>
              </a:lnSpc>
            </a:pPr>
            <a:r>
              <a:rPr sz="1600" b="1" i="0">
                <a:solidFill>
                  <a:srgbClr val="0064FF"/>
                </a:solidFill>
                <a:latin typeface="Poppins"/>
              </a:rPr>
              <a:t>•  </a:t>
            </a:r>
            <a:r>
              <a:rPr sz="1600" b="1" i="0">
                <a:solidFill>
                  <a:srgbClr val="002659"/>
                </a:solidFill>
                <a:latin typeface="Poppins"/>
              </a:rPr>
              <a:t>Then watch them work — </a:t>
            </a:r>
            <a:r>
              <a:rPr sz="1500" b="0" i="0">
                <a:solidFill>
                  <a:srgbClr val="212121"/>
                </a:solidFill>
                <a:latin typeface="Poppins"/>
              </a:rPr>
              <a:t>real anomalies, real drift, real bounds shifts drive the agents end-to-end.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17920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0">
                <a:solidFill>
                  <a:srgbClr val="7D7D7D"/>
                </a:solidFill>
                <a:latin typeface="Poppins"/>
              </a:rPr>
              <a:t>Agents live on staging  ·  europe-west2  ·  reasoning verified  ·  CI green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