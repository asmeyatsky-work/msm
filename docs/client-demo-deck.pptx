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Client executive and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2026-05-11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WHERE WE ARE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production-grade revenue forecasting service is operational.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have built and deployed an end-to-end machine-learning service that predicts revenue-per-click in real time, with the engineering controls required to run it safely in production.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things to take away today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Working software — a live API on Google Cloud is serving predictions right now, with measured p95 latency under one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Production engineering — circuit breakers, drift monitoring, explainability, alerting, runbooks, and a tested rollback path are all in place.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clear path to your data — the platform is ready to ingest real click and sales-ledger feeds; the model retrains and canary-deploys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MATTERS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Bidding and budget decisions today rely on lagging signals.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Revenue per click is reconciled days after the fact, from a sales ledger that lives apart from the ad platforms making spend decisions. By the time the numbers settle, the budget has already been committed.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a predictive RPC unlocks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Bid the click that's likely to convert —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Reallocate spend within the hour, not the 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Detect campaign degradation before it shows up in revenue.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 every prediction — auditability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HAVE BUILT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managed prediction service on Google Cloud.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REST API — POST a click context, receive an RPC estimate in under a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Explainability — every prediction can return per-feature attributions so analysts can see why the model said what it said.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Streaming ingestion — predictions land in BigQuery for analytics, reconciliation, and downstream activation.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Safety net — anomaly detection, automatic circuit-breaker, negative-prediction guards, configurable timeouts.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One-command deploys — every change ships through CI with a tested rollback to the prior model version.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All components run in Google Cloud (europe-west2, London) on managed services — Cloud Run, Vertex AI, BigQuery, Pub/Sub — so there is no infrastructure for the client team to operate.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RECEIVE, WHO CONSUMES IT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Deliverables and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143000"/>
            <a:ext cx="310896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143000"/>
            <a:ext cx="39620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CLIENT-FACING?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dashboard/  (React + nginx)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Executive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1F8A4F"/>
                </a:solidFill>
                <a:latin typeface="Calibri"/>
              </a:rPr>
              <a:t>● 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Yes — primary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0574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scoring-api  /v1/score, /v1/explain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574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Their backend / SA360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0574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show via curl / Postman on slide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56032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reconciliation  /reconciliation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56032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Powers the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56032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invisible to client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06324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activation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06324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SA360 / SSGTM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06324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Backend, no 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6616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56616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breaker-automation, ml-pipeline, bounds-calibration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6616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Internal / scheduled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6616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6908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6908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0690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mcp-servers/scoring-mcp, mlops-mcp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0690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Agent tooling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Not client-facing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54864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45720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Dataform models, BigQuery views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5720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Analyst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5720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D9730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Available in Looker Studio as a second visual artefact (optional)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18464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B7380"/>
                </a:solidFill>
                <a:latin typeface="Calibri"/>
              </a:rPr>
              <a:t>Nothing else in the repository is a runnable demo. The dashboard plus a handful of API calls against the scoring service is the complete client-facing surface.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PREDICTIVE RPC ESTIMATOR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60175" cy="5120640"/>
          </a:xfrm>
          <a:prstGeom prst="roundRect">
            <a:avLst>
              <a:gd name="adj" fmla="val 1500"/>
            </a:avLst>
          </a:prstGeom>
          <a:solidFill>
            <a:srgbClr val="F1F3F8"/>
          </a:solidFill>
          <a:ln w="12700">
            <a:solidFill>
              <a:srgbClr val="C9C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60704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alibri"/>
              </a:rPr>
              <a:t>Google Cloud Platform</a:t>
            </a:r>
            <a:r>
              <a:rPr sz="1000" b="0" i="1">
                <a:solidFill>
                  <a:srgbClr val="6B7380"/>
                </a:solidFill>
                <a:latin typeface="Calibri"/>
              </a:rPr>
              <a:t>    europe-west2 (London)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63040"/>
            <a:ext cx="11002975" cy="1325880"/>
          </a:xfrm>
          <a:prstGeom prst="rect">
            <a:avLst/>
          </a:prstGeom>
          <a:solidFill>
            <a:srgbClr val="E8EFF7"/>
          </a:solidFill>
          <a:ln w="6350">
            <a:solidFill>
              <a:srgbClr val="C9C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0">
                <a:solidFill>
                  <a:srgbClr val="6B7380"/>
                </a:solidFill>
                <a:latin typeface="Calibri"/>
              </a:rPr>
              <a:t>HOT PATH · SERVING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926080"/>
            <a:ext cx="11002975" cy="1325880"/>
          </a:xfrm>
          <a:prstGeom prst="rect">
            <a:avLst/>
          </a:prstGeom>
          <a:solidFill>
            <a:srgbClr val="F1ECF8"/>
          </a:solidFill>
          <a:ln w="6350">
            <a:solidFill>
              <a:srgbClr val="C9C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0">
                <a:solidFill>
                  <a:srgbClr val="6B7380"/>
                </a:solidFill>
                <a:latin typeface="Calibri"/>
              </a:rPr>
              <a:t>DATA PLANE · WAREHOUSE AND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389120"/>
            <a:ext cx="11002975" cy="1325880"/>
          </a:xfrm>
          <a:prstGeom prst="rect">
            <a:avLst/>
          </a:prstGeom>
          <a:solidFill>
            <a:srgbClr val="ECF3EE"/>
          </a:solidFill>
          <a:ln w="6350">
            <a:solidFill>
              <a:srgbClr val="C9C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0">
                <a:solidFill>
                  <a:srgbClr val="6B7380"/>
                </a:solidFill>
                <a:latin typeface="Calibri"/>
              </a:rPr>
              <a:t>CONSUMPTION · RESILIENCE AND ACTIVATION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18745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Scoring API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Rust 1.89  ·  Cloud 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187452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Vertex AI Endpoint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XGBoost regressor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87452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Dashboard UI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TypeScript · React · nginx · Cloud Run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1920240"/>
            <a:ext cx="201168" cy="201168"/>
          </a:xfrm>
          <a:prstGeom prst="ellips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640080" y="2103120"/>
            <a:ext cx="475488" cy="384048"/>
          </a:xfrm>
          <a:prstGeom prst="triangl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14600"/>
            <a:ext cx="8412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333F52"/>
                </a:solidFill>
                <a:latin typeface="Calibri"/>
              </a:rPr>
              <a:t>Client</a:t>
            </a:r>
          </a:p>
        </p:txBody>
      </p:sp>
      <p:sp>
        <p:nvSpPr>
          <p:cNvPr id="18" name="Oval 17"/>
          <p:cNvSpPr/>
          <p:nvPr/>
        </p:nvSpPr>
        <p:spPr>
          <a:xfrm>
            <a:off x="11155680" y="1920240"/>
            <a:ext cx="201168" cy="201168"/>
          </a:xfrm>
          <a:prstGeom prst="ellips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11018520" y="2103120"/>
            <a:ext cx="475488" cy="384048"/>
          </a:xfrm>
          <a:prstGeom prst="triangl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35640" y="2514600"/>
            <a:ext cx="8412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333F52"/>
                </a:solidFill>
                <a:latin typeface="Calibri"/>
              </a:rPr>
              <a:t>Executive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43000" y="2226564.0"/>
            <a:ext cx="41148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43000" y="1970532"/>
            <a:ext cx="5029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HTTPS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14800" y="2125980.0"/>
            <a:ext cx="82296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1933956"/>
            <a:ext cx="82296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predict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114800" y="2400300.0"/>
            <a:ext cx="82296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14800" y="2400300"/>
            <a:ext cx="82296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predicted_rpc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1430000" y="2263140.0"/>
            <a:ext cx="4572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Hexagon 27"/>
          <p:cNvSpPr/>
          <p:nvPr/>
        </p:nvSpPr>
        <p:spPr>
          <a:xfrm>
            <a:off x="2240280" y="3383280"/>
            <a:ext cx="1188720" cy="502920"/>
          </a:xfrm>
          <a:prstGeom prst="hexagon">
            <a:avLst/>
          </a:prstGeom>
          <a:solidFill>
            <a:srgbClr val="A06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Pub/Sub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904488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333F52"/>
                </a:solidFill>
                <a:latin typeface="Calibri"/>
              </a:rPr>
              <a:t>rpc-predictions-staging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0" y="3264408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BigQuery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Data warehouse</a:t>
            </a:r>
          </a:p>
          <a:p>
            <a:pPr algn="ctr">
              <a:spcBef>
                <a:spcPts val="300"/>
              </a:spcBef>
            </a:pPr>
            <a:r>
              <a:rPr sz="700" b="0" i="1">
                <a:solidFill>
                  <a:srgbClr val="FFFFFF"/>
                </a:solidFill>
                <a:latin typeface="Calibri"/>
              </a:rPr>
              <a:t>rpc_predictions  ·  sales_ledger</a:t>
            </a:r>
          </a:p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predictions_vs_revenue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3337560"/>
            <a:ext cx="2194560" cy="777240"/>
          </a:xfrm>
          <a:prstGeom prst="roundRect">
            <a:avLst>
              <a:gd name="adj" fmla="val 1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ML Ops Pipeline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Python 3.12  ·  Vertex AI Pipelines</a:t>
            </a:r>
          </a:p>
        </p:txBody>
      </p:sp>
      <p:sp>
        <p:nvSpPr>
          <p:cNvPr id="32" name="Can 31"/>
          <p:cNvSpPr/>
          <p:nvPr/>
        </p:nvSpPr>
        <p:spPr>
          <a:xfrm>
            <a:off x="10698480" y="3337560"/>
            <a:ext cx="640080" cy="777240"/>
          </a:xfrm>
          <a:prstGeom prst="can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61320" y="4096512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 i="0">
                <a:solidFill>
                  <a:srgbClr val="333F52"/>
                </a:solidFill>
                <a:latin typeface="Calibri"/>
              </a:rPr>
              <a:t>Cloud Storage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429000.0" y="3634740.0"/>
            <a:ext cx="1508760.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29000" y="3255264"/>
            <a:ext cx="150876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BigQuery sub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15200" y="3726180.0"/>
            <a:ext cx="91440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3525012"/>
            <a:ext cx="9144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training data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424160" y="3726180.0"/>
            <a:ext cx="27432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424160" y="3525012"/>
            <a:ext cx="27432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artifacts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834640.0" y="2651760"/>
            <a:ext cx="0.0" cy="73152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31720" y="2670048"/>
            <a:ext cx="100584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emit prediction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326880.0" y="2857500.0"/>
            <a:ext cx="0.0" cy="480060.0"/>
          </a:xfrm>
          <a:prstGeom prst="line">
            <a:avLst/>
          </a:prstGeom>
          <a:ln w="1270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6126480.0" y="2857500.0"/>
            <a:ext cx="3200400.0" cy="0.0"/>
          </a:xfrm>
          <a:prstGeom prst="line">
            <a:avLst/>
          </a:prstGeom>
          <a:ln w="1270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26480.0" y="2651760"/>
            <a:ext cx="0.0" cy="205740.0"/>
          </a:xfrm>
          <a:prstGeom prst="line">
            <a:avLst/>
          </a:prstGeom>
          <a:ln w="12700">
            <a:solidFill>
              <a:srgbClr val="34A853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55280" y="2692908"/>
            <a:ext cx="128016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34A853"/>
                </a:solidFill>
                <a:latin typeface="Calibri"/>
              </a:rPr>
              <a:t>deploy / retrain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54480" y="4800600"/>
            <a:ext cx="2011680" cy="777240"/>
          </a:xfrm>
          <a:prstGeom prst="roundRect">
            <a:avLst>
              <a:gd name="adj" fmla="val 10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Breaker Automation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Python  ·  flips kill-switch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749040" y="49377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Secret Manager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0" y="480060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Reconciliation Service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Python FastAPI  ·  Cloud Run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0" y="4800600"/>
            <a:ext cx="2194560" cy="777240"/>
          </a:xfrm>
          <a:prstGeom prst="roundRect">
            <a:avLst>
              <a:gd name="adj" fmla="val 10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Activation Service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Python 3.12  ·  Cloud Run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61320" y="484632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333F52"/>
                </a:solidFill>
                <a:latin typeface="Calibri"/>
              </a:rPr>
              <a:t>→  SA360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5084064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333F52"/>
                </a:solidFill>
                <a:latin typeface="Calibri"/>
              </a:rPr>
              <a:t>→  SSGTM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61320" y="532180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333F52"/>
                </a:solidFill>
                <a:latin typeface="Calibri"/>
              </a:rPr>
              <a:t>→  OCI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566160" y="5189220.0"/>
            <a:ext cx="18288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24160" y="5189220.0"/>
            <a:ext cx="91440" cy="0.0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434840.0" y="2651760"/>
            <a:ext cx="0.0" cy="2286000"/>
          </a:xfrm>
          <a:prstGeom prst="line">
            <a:avLst/>
          </a:prstGeom>
          <a:ln w="12700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80560" y="3703320"/>
            <a:ext cx="146304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700" b="0" i="1">
                <a:solidFill>
                  <a:srgbClr val="6B7380"/>
                </a:solidFill>
                <a:latin typeface="Calibri"/>
              </a:rPr>
              <a:t>kill-switch flag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126480.0" y="4224528"/>
            <a:ext cx="0.0" cy="576072"/>
          </a:xfrm>
          <a:prstGeom prst="line">
            <a:avLst/>
          </a:prstGeom>
          <a:ln w="15875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029200" y="4421124"/>
            <a:ext cx="100584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predictions_vs_revenue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15200" y="5189220.0"/>
            <a:ext cx="365760" cy="0.0"/>
          </a:xfrm>
          <a:prstGeom prst="line">
            <a:avLst/>
          </a:prstGeom>
          <a:ln w="12700">
            <a:solidFill>
              <a:srgbClr val="46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680960" y="2263140.0"/>
            <a:ext cx="0" cy="2926080.0"/>
          </a:xfrm>
          <a:prstGeom prst="line">
            <a:avLst/>
          </a:prstGeom>
          <a:ln w="12700">
            <a:solidFill>
              <a:srgbClr val="46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680960" y="2263140.0"/>
            <a:ext cx="1371600" cy="0.0"/>
          </a:xfrm>
          <a:prstGeom prst="line">
            <a:avLst/>
          </a:prstGeom>
          <a:ln w="12700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726680" y="2061972"/>
            <a:ext cx="100584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700" b="0" i="1">
                <a:solidFill>
                  <a:srgbClr val="6B7380"/>
                </a:solidFill>
                <a:latin typeface="Calibri"/>
              </a:rPr>
              <a:t>HTTPS /api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315200" y="3995928"/>
            <a:ext cx="1280160" cy="0"/>
          </a:xfrm>
          <a:prstGeom prst="line">
            <a:avLst/>
          </a:prstGeom>
          <a:ln w="12700">
            <a:solidFill>
              <a:srgbClr val="46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595360" y="3995928"/>
            <a:ext cx="0" cy="804672"/>
          </a:xfrm>
          <a:prstGeom prst="line">
            <a:avLst/>
          </a:prstGeom>
          <a:ln w="12700">
            <a:solidFill>
              <a:srgbClr val="4655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863840" y="3813048"/>
            <a:ext cx="146304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predictions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1F4CA6"/>
                </a:solidFill>
                <a:latin typeface="Calibri"/>
              </a:rPr>
              <a:t>Scoring API guardrails:  </a:t>
            </a:r>
            <a:r>
              <a:rPr sz="900" b="0" i="0">
                <a:solidFill>
                  <a:srgbClr val="333F52"/>
                </a:solidFill>
                <a:latin typeface="Calibri"/>
              </a:rPr>
              <a:t>prediction bounds  ·  negative clamp  ·  model &amp; BigQuery timeouts  ·  anomaly window  ·  circuit-breaker  ·  kill-switch.</a:t>
            </a:r>
          </a:p>
          <a:p>
            <a:r>
              <a:rPr sz="900" b="1" i="0">
                <a:solidFill>
                  <a:srgbClr val="1F4CA6"/>
                </a:solidFill>
                <a:latin typeface="Calibri"/>
              </a:rPr>
              <a:t>Delivery:  </a:t>
            </a:r>
            <a:r>
              <a:rPr sz="900" b="0" i="0">
                <a:solidFill>
                  <a:srgbClr val="333F52"/>
                </a:solidFill>
                <a:latin typeface="Calibri"/>
              </a:rPr>
              <a:t>GitHub  →  Workload Identity Federation  →  Cloud Build  →  Artifact Registry  →  Cloud Run, gated on test, coverage and supply-chain scans.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FIVE MINUTES, THREE SCREENS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1.  The reconciliation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open the live dashboard. It shows the last seven days of predictions paired with realized revenue from the sales ledger — predicted RPC, realized RPC, residual, and which model branch served each click.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2.  A prediction in flight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sample click context to the live scoring API and receive an RPC estimate, end-to-end, in under a second. The same input is then sent to the explain path to show per-feature attributions.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3.  The safety net in action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deliberately malformed payload. The service rejects it cleanly, the circuit-breaker counters tick, and the request never reaches the model. No degradation visible to clean traffic.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Dashboard  ·  https://dashboard-staging-794974391956.europe-west2.run.app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Scoring API  ·  https://scoring-api-staging-794974391956.europe-west2.run.app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LOAD TEST, LIVE STAGING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561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Median (p50) /v1/score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762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p95 /v1/score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993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p99 /v1/score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1F8A4F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Success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Headroom against the SLO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Staging p95 latency budget is 1500 ms — observed 762 ms leaves roughly a 2× margin before alerts fire.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Zero errors at the tested rate; prior runs showed the service recovers cleanly under autoscaling load.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Production sizing has been pre-computed from these numbers — a larger Vertex machine and a minimum of two replicas keep the same headroom under client traffic.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ops/perf/20260428T094507Z__v1_score.json  ·  tool: oha, 30s @ c=10  ·  europe-west2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Circuit-breaker on the upstream model — fails fast and recovers automatically.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Configurable timeouts for model and warehouse calls — no request hangs indefinitely.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Negative-prediction clamp and input validation at the edge.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Anomaly window on null-rates flips the breaker before bad data reaches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Every change ships through GitHub Actions on tag push, gated by tests, type checks, and security scan.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Workload Identity Federation — no service-account keys to manage or rotate.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Monitoring alerts on latency, error rate, breaker trips, and anomaly state.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Runbooks committed for breaker reset, model rollback, secret rotation, and cost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BUILT TO PASS REVIEW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Security and compliance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Identity and access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Per-service service accounts; least-privilege IAM encoded in Terraform — every grant is reviewable in git.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No long-lived secrets in CI: GitHub OIDC federates into Google Cloud via Workload Identity.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Secrets in Secret Manager with versioning; rotation is a runbooked one-liner.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Data protection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All data resident in europe-west2 (London). No US-region replicas.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Google-managed encryption keys by default; customer-managed keys (CMEK) available on request.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Predictions are persisted to BigQuery with the same access controls as your existing analytics estate.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Supply chain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Container images pinned by digest; dependency scanning runs on every PR; no third-party model weights are downloaded at runtime.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Real click events arrive via Pub/Sub or push-down query into BigQuery — schema and freshness are agreed in the data contract.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Sales-ledger data is loaded via scheduled query or transfer service from the client source of truth.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Training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Model is trained in a Vertex AI pipeline run from the same monorepo — fully reproducible from a commit.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Each model version is registered in the Vertex Model Registry; we never deploy an unversioned artifact.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New versions deploy behind a traffic split — 10% canary, then ramp — with automatic rollback if breaker trip rates spike.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Drift monitoring on inputs (PSI) and on outputs vs the reconciled ledger keeps the model honest in production.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Today's demo runs against a model trained on a synthetic dataset that mirrors the agreed schema. Retraining on real data is the first work item once the data contract is signed.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RUN-BOOK READY, ON DAY ONE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Operational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Service-level 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Availability target 99.5% on /v1/score; latency SLO sized from the live load profile.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Error-budget policy: breaches automatically open an incident channel.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Logging, Cloud Trace, and Cloud Monitoring out of the box — one pane of glass for the on-call engineer.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Four alert policies pre-wired: latency, error rate, breaker trips, anomaly 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Runbooks committed to the repository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Reset the breaker · Roll back a model version · Scale Vertex to zero for cost · Rotate a secret · Migrate the BigQuery schema.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Rollback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Vertex traffic-split rollback to the previous model version is a single command; Cloud Run revisions are pinned and revertible.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PRODUCTION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84048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Staging 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Real explain path live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Sliding anomaly window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IaC for IAM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Load profile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384048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Data contract sign-off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Ingestion of client feeds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Retrain on real data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384048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READY TO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Terraform workspace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CD with approvals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Right-sized Vertex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Sign-off and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98348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Indicative timeline: ~8 weeks from kickoff, gated on data access. Each phase ends in a working, demoable artefact.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decisions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Sign off the data contract — schema, freshness, and PII handling for click and sales-ledger feeds.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Nominate one data owner and one on-call engineer on your side for joint working sessions.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Confirm production GCP project (or authorise a prod-isolated namespace in the existing one).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Two artefacts we will share this week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short data-contract template ready for legal and engineering review.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you get in eight weeks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production service, on your data, with your on-call team in the cockpit and a signed handover.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