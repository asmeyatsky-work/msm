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 — CREDIT CARDS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for Credit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Credit Cards leadership +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2026-05-19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54864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D97306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Today every Credit Cards click is priced the same.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200" b="0" i="0">
                <a:solidFill>
                  <a:srgbClr val="F4F6FA"/>
                </a:solidFill>
                <a:latin typeface="Calibri"/>
              </a:rPr>
              <a:t>You overpay for the minnow. You underbid the whale and a rival takes them. You see the bill 90 days later — when the ledger reconciles, and the budget is gone.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 b="1" i="0">
                <a:solidFill>
                  <a:srgbClr val="D97306"/>
                </a:solidFill>
                <a:latin typeface="Calibri"/>
              </a:rPr>
              <a:t>WHY CC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Near-term commercial pressure on the channel.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      </a:t>
            </a:r>
            <a:r>
              <a:rPr sz="1000" b="1" i="0">
                <a:solidFill>
                  <a:srgbClr val="D97306"/>
                </a:solidFill>
                <a:latin typeface="Calibri"/>
              </a:rPr>
              <a:t>WHY NOW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Sales coverage rising 50% → 80% by end-June.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      </a:t>
            </a:r>
            <a:r>
              <a:rPr sz="1000" b="1" i="0">
                <a:solidFill>
                  <a:srgbClr val="D97306"/>
                </a:solidFill>
                <a:latin typeface="Calibri"/>
              </a:rPr>
              <a:t>WHY SAFE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Bid-optimisation only; ADR 0004 keeps the FCA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YOU CAN SEE — AND WHAT'S RUNNING UNDERNEATH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We've built it. It's live.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23317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32907" y="1280160"/>
            <a:ext cx="320040" cy="320040"/>
          </a:xfrm>
          <a:prstGeom prst="ellipse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bidder with a crystal ball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333F52"/>
                </a:solidFill>
                <a:latin typeface="Calibri"/>
              </a:rPr>
              <a:t>Every Credit Cards click is priced in under a second, on its actual likely revenue.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F6E7A"/>
                </a:solidFill>
                <a:latin typeface="Calibri"/>
              </a:rPr>
              <a:t>Underneath:  </a:t>
            </a:r>
            <a:r>
              <a:rPr sz="900" b="0" i="0">
                <a:solidFill>
                  <a:srgbClr val="6B7380"/>
                </a:solidFill>
                <a:latin typeface="Calibri"/>
              </a:rPr>
              <a:t>scoring-api (Rust on Cloud Run)  ·  Vertex AI XGBoost endpoint  ·  p95 &lt; 1 s on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8707" y="10972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18707" y="1097280"/>
            <a:ext cx="73152" cy="23317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48695" y="1280160"/>
            <a:ext cx="320040" cy="320040"/>
          </a:xfrm>
          <a:prstGeom prst="ellipse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3027" y="12618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Every prediction explainable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333F52"/>
                </a:solidFill>
                <a:latin typeface="Calibri"/>
              </a:rPr>
              <a:t>Plain-English attribution chart on every score — auditable for finance and compliance.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D97306"/>
                </a:solidFill>
                <a:latin typeface="Calibri"/>
              </a:rPr>
              <a:t>Underneath:  </a:t>
            </a:r>
            <a:r>
              <a:rPr sz="900" b="0" i="0">
                <a:solidFill>
                  <a:srgbClr val="6B7380"/>
                </a:solidFill>
                <a:latin typeface="Calibri"/>
              </a:rPr>
              <a:t>Native SHAP via Vertex explanationSpec  ·  ADR 0004 blocks output from reaching customer terms.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11880"/>
            <a:ext cx="73152" cy="23317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32907" y="3794760"/>
            <a:ext cx="320040" cy="320040"/>
          </a:xfrm>
          <a:prstGeom prst="ellipse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764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Behavioural intent, day one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333F52"/>
                </a:solidFill>
                <a:latin typeface="Calibri"/>
              </a:rPr>
              <a:t>The user's session — calculator, guides, compare-N — drives the bid in real time.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1F8A4F"/>
                </a:solidFill>
                <a:latin typeface="Calibri"/>
              </a:rPr>
              <a:t>Underneath:  </a:t>
            </a:r>
            <a:r>
              <a:rPr sz="900" b="0" i="0">
                <a:solidFill>
                  <a:srgbClr val="6B7380"/>
                </a:solidFill>
                <a:latin typeface="Calibri"/>
              </a:rPr>
              <a:t>Phoebe / GA4 nightly rollup  ·  Vertex Feature Store at serving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8707" y="36118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18707" y="3611880"/>
            <a:ext cx="73152" cy="2331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48695" y="3794760"/>
            <a:ext cx="320040" cy="32004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7764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safety net you can demo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333F52"/>
                </a:solidFill>
                <a:latin typeface="Calibri"/>
              </a:rPr>
              <a:t>Bounds, circuit breaker, kill switch, anomaly window — the failure modes have already been thought through.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B1F3A"/>
                </a:solidFill>
                <a:latin typeface="Calibri"/>
              </a:rPr>
              <a:t>Underneath:  </a:t>
            </a:r>
            <a:r>
              <a:rPr sz="900" b="0" i="0">
                <a:solidFill>
                  <a:srgbClr val="6B7380"/>
                </a:solidFill>
                <a:latin typeface="Calibri"/>
              </a:rPr>
              <a:t>Six Cloud Monitoring alerts  ·  six runbooks  ·  rollback is a Vertex traffic-split.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9320"/>
            <a:ext cx="1118585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91440"/>
          <a:lstStyle/>
          <a:p>
            <a:pPr algn="ctr"/>
            <a:r>
              <a:rPr sz="1000" b="0" i="0">
                <a:solidFill>
                  <a:srgbClr val="F4F6FA"/>
                </a:solidFill>
                <a:latin typeface="Calibri"/>
              </a:rPr>
              <a:t>Live on staging  ·  europe-west2  ·  </a:t>
            </a:r>
            <a:r>
              <a:rPr sz="1000" b="1" i="0">
                <a:solidFill>
                  <a:srgbClr val="D97306"/>
                </a:solidFill>
                <a:latin typeface="Calibri"/>
              </a:rPr>
              <a:t>https://dashboard-staging-794974391956.europe-west2.run.app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CREDIT CARDS STACK ON GOOGLE CLOUD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90723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CM360 click stream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Pub/Sub → BigQuery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Sales ledger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BigQuery, multi-stage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GA4 events (Phoebe)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Daily BigQuery export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81883.75" y="3634740.0"/>
            <a:ext cx="314960.0" cy="0.0"/>
          </a:xfrm>
          <a:prstGeom prst="bentConnector3">
            <a:avLst/>
          </a:prstGeom>
          <a:ln w="25400">
            <a:solidFill>
              <a:srgbClr val="6B73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22243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2243" y="1097280"/>
            <a:ext cx="2590723" cy="45720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03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REAL-TIME HOT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9403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scoring-api (Rust, Cloud Run)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p95 &lt; 1s, /v1/score + /v1/explain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9403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Safety net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Bounds, breaker, kill switch, anomaly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9403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Vertex AI endpoint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XGBoost + native SHAP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9403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Feature store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Phoebe lookup at scoring time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38367.5" y="3634740.0"/>
            <a:ext cx="314960.0" cy="0.0"/>
          </a:xfrm>
          <a:prstGeom prst="bentConnector3">
            <a:avLst/>
          </a:prstGeom>
          <a:ln w="25400">
            <a:solidFill>
              <a:srgbClr val="6B73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78727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097280"/>
            <a:ext cx="2590723" cy="4572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RECONCILIATION +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5887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BigQuery views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predictions_vs_revenue, coverage_audit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5887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Dataform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residuals_by_segment, drift_breaches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5887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ml-pipeline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Vertex Pipelines retrain on tag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15887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breach_emitter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Daily scheduler → log → alerts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94851.25" y="3634740.0"/>
            <a:ext cx="314960.0" cy="0.0"/>
          </a:xfrm>
          <a:prstGeom prst="bentConnector3">
            <a:avLst/>
          </a:prstGeom>
          <a:ln w="25400">
            <a:solidFill>
              <a:srgbClr val="6B73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35211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211" y="1097280"/>
            <a:ext cx="2590723" cy="45720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371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SURFACES + ACTIVATION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371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Executive dashboard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React + nginx on Cloud Run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371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Activation API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SA360 / SSGTM / OCI push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72371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Cloud Monitoring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6 alert policies → on-call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SEVEN MINUTES, ONE URL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you'll see, in seven beats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D97306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B1F3A"/>
                </a:solidFill>
                <a:latin typeface="Calibri"/>
              </a:rPr>
              <a:t>KPIs in pounds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333F52"/>
                </a:solidFill>
                <a:latin typeface="Calibri"/>
              </a:rPr>
              <a:t>Five tiles. 90-day window. Product-type filter.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3673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8265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D97306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8265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B1F3A"/>
                </a:solidFill>
                <a:latin typeface="Calibri"/>
              </a:rPr>
              <a:t>Coverage, slice by slice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8265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333F52"/>
                </a:solidFill>
                <a:latin typeface="Calibri"/>
              </a:rPr>
              <a:t>Red bars are the slices that need backfill before retraining.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4427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9019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D97306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9019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B1F3A"/>
                </a:solidFill>
                <a:latin typeface="Calibri"/>
              </a:rPr>
              <a:t>Same click, two worlds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9019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333F52"/>
                </a:solidFill>
                <a:latin typeface="Calibri"/>
              </a:rPr>
              <a:t>Flat target-CPA vs value-based bid vs the £ difference, with a running counter.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5181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9773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D97306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9773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B1F3A"/>
                </a:solidFill>
                <a:latin typeface="Calibri"/>
              </a:rPr>
              <a:t>You drive the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9773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333F52"/>
                </a:solidFill>
                <a:latin typeface="Calibri"/>
              </a:rPr>
              <a:t>Predict in CC language; the pipeline trace lights up live.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D97306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B1F3A"/>
                </a:solidFill>
                <a:latin typeface="Calibri"/>
              </a:rPr>
              <a:t>The bouncer with a crystal ball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333F52"/>
                </a:solidFill>
                <a:latin typeface="Calibri"/>
              </a:rPr>
              <a:t>Press Play — a user's intent builds up, the bid follows.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3673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8265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D97306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8265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B1F3A"/>
                </a:solidFill>
                <a:latin typeface="Calibri"/>
              </a:rPr>
              <a:t>Why the model said that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8265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333F52"/>
                </a:solidFill>
                <a:latin typeface="Calibri"/>
              </a:rPr>
              <a:t>Plain-English SHAP under every prediction.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427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9019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D97306"/>
                </a:solidFill>
                <a:latin typeface="Calibr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9019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B1F3A"/>
                </a:solidFill>
                <a:latin typeface="Calibri"/>
              </a:rPr>
              <a:t>What we've designed against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9019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333F52"/>
                </a:solidFill>
                <a:latin typeface="Calibri"/>
              </a:rPr>
              <a:t>Three failure modes named; the verticals after CC named.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5181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228600" wrap="square"/>
          <a:lstStyle/>
          <a:p>
            <a:pPr algn="ctr"/>
            <a:r>
              <a:rPr sz="1100" b="1" i="0">
                <a:solidFill>
                  <a:srgbClr val="D97306"/>
                </a:solidFill>
                <a:latin typeface="Calibri"/>
              </a:rPr>
              <a:t>Live dashboard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FFFFFF"/>
                </a:solidFill>
                <a:latin typeface="Consolas"/>
              </a:rPr>
              <a:t>https://dashboard-staging-794974391956.europe-west2.run.app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000" b="0" i="0">
                <a:solidFill>
                  <a:srgbClr val="F4F6FA"/>
                </a:solidFill>
                <a:latin typeface="Calibri"/>
              </a:rPr>
              <a:t>One URL. The dashboard auto-calls /v1/score, /v1/explain and /coverage via nginx — nothing else to open.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THE HEADLINE ANSWER TO EVERY CTO QUESTION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Why this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3606698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Rust on Cloud Run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333F52"/>
                </a:solidFill>
                <a:latin typeface="Calibri"/>
              </a:rPr>
              <a:t>We need every millisecond Vertex doesn't take.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6B7380"/>
                </a:solidFill>
                <a:latin typeface="Calibri"/>
              </a:rPr>
              <a:t>GC jitter would eat the safety-net budget. Considered Go and Python and rejected both.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2498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2498" y="1143000"/>
            <a:ext cx="3606698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5378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XGBoost on Vertex AI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333F52"/>
                </a:solidFill>
                <a:latin typeface="Calibri"/>
              </a:rPr>
              <a:t>Tabular data + auditable predictions + a circuit breaker that has to compose.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6B7380"/>
                </a:solidFill>
                <a:latin typeface="Calibri"/>
              </a:rPr>
              <a:t>GBDT wins tabular. Native SHAP comes free. Transformers' stateful decoding breaks the breaker.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82076" y="1143000"/>
            <a:ext cx="3606698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4956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TypeScript + React + Vite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333F52"/>
                </a:solidFill>
                <a:latin typeface="Calibri"/>
              </a:rPr>
              <a:t>One URL with realtime interactivity, no server-side rendering.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6B7380"/>
                </a:solidFill>
                <a:latin typeface="Calibri"/>
              </a:rPr>
              <a:t>Zod validates JSON at the boundary. The dashboard is a static-asset deploy.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03320"/>
            <a:ext cx="3606698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Protobuf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333F52"/>
                </a:solidFill>
                <a:latin typeface="Calibri"/>
              </a:rPr>
              <a:t>Wire stability across Rust ↔ Python; CI parity test guards drift.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6B7380"/>
                </a:solidFill>
                <a:latin typeface="Calibri"/>
              </a:rPr>
              <a:t>Considered JSON Schema and rejected — loses on-wire byte-stability.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2498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2498" y="3703320"/>
            <a:ext cx="3606698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5378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Dataform on BigQuery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333F52"/>
                </a:solidFill>
                <a:latin typeface="Calibri"/>
              </a:rPr>
              <a:t>Same primitives as dbt; one fewer tool for the client to install.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6B7380"/>
                </a:solidFill>
                <a:latin typeface="Calibri"/>
              </a:rPr>
              <a:t>Type-safe ref()s give us the DAG automatically. coverage_audit, drift_breaches, residuals all light up in order.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2076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2076" y="3703320"/>
            <a:ext cx="3606698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Workload Identity Federation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333F52"/>
                </a:solidFill>
                <a:latin typeface="Calibri"/>
              </a:rPr>
              <a:t>No long-lived secrets in CI. No keys to rotate, leak, or audit.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6B7380"/>
                </a:solidFill>
                <a:latin typeface="Calibri"/>
              </a:rPr>
              <a:t>GitHub OIDC federates into GCP. Every IAM grant is in Terraform.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THE BORING SLIDE THAT MAKES THE SYSTEM BULLETPROOF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B1F3A"/>
                </a:solidFill>
                <a:latin typeface="Calibri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Bounds → flat-tCPA fallback on every prediction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Circuit breaker auto-recovers; kill switch is a single flag, no redeploy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Per-call timeouts on model + warehouse — no request hangs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09728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38747" y="1325880"/>
            <a:ext cx="548640" cy="548640"/>
          </a:xfrm>
          <a:prstGeom prst="ellipse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4547" y="137160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B1F3A"/>
                </a:solidFill>
                <a:latin typeface="Calibri"/>
              </a:rPr>
              <a:t>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747" y="201168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Six Cloud Monitoring alerts: latency, 5xx, breaker, anomaly, per-segment drift, coverage drop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Cloud Logging + Trace baked in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SLO: 99.5% availability on /v1/score, 30-day rolling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4904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977640"/>
            <a:ext cx="548640" cy="548640"/>
          </a:xfrm>
          <a:prstGeom prst="ellipse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2336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B1F3A"/>
                </a:solidFill>
                <a:latin typeface="Calibri"/>
              </a:rPr>
              <a:t>Security +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1F8A4F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Per-service service accounts; least-privilege IAM in Terraform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1F8A4F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Workload Identity Federation — no long-lived keys in CI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1F8A4F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ADR 0004 — bid-optimisation only, no customer-decisioning surface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1F8A4F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ADR 0005 — GA4 PII boundary: hashed user_pseudo_id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374904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8747" y="3977640"/>
            <a:ext cx="548640" cy="54864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4547" y="402336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B1F3A"/>
                </a:solidFill>
                <a:latin typeface="Calibri"/>
              </a:rPr>
              <a:t>Operability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747" y="466344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Tag-push CI → CD → smoke; rollback is a single Vertex traffic-split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Six runbooks committed: breaker reset, model rollback, secret rotation, coverage audit, BQ schema migration, endpoint scale-down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Three feeds, one model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Click stream (CM360, CC schema): product_type, card_product_id, query_intent, affinity_score, prior_applicant, income_band_bucket, rpc_14d/60d.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Sales ledger: multi-stage events (application_started → submitted → approved → activated → first_spend → chargeback) with revenue, margin_rate (profit-ready), card_product_id, currency.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GA4 / Phoebe: per-cookie 30-day rollup — calculator_used, guides_read, cards_compared, session_engagement_s. Joined at training; looked up at serving.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Label and reconciliation window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Sum-of-rewards over a 90-day window (ADR 0003 — fits the CC consideration tail). Profit-ready label: SUM(revenue × COALESCE(margin_rate, 1.0)).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Training and 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Vertex AI Pipelines run from the same monorepo — reproducible from a commit. Every version in the Vertex Model Registry.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Canary 10% → 50% over 48h → 100%. Active-versions panel shows the share and rolling MAE side-by-side.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Drift, four ways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Inputs (PSI per feature); outputs (residuals_daily); per-segment MAE (product × device × geo); coverage drop W-o-W per slice.</a:t>
            </a:r>
          </a:p>
          <a:p>
            <a:pPr>
              <a:lnSpc>
                <a:spcPct val="120000"/>
              </a:lnSpc>
            </a:pPr>
            <a:r>
              <a:rPr sz="900" b="0" i="1">
                <a:solidFill>
                  <a:srgbClr val="6B7380"/>
                </a:solidFill>
                <a:latin typeface="Calibri"/>
              </a:rPr>
              <a:t>Today's model is trained on synthetic data mirroring the CC schema. First work item once OQ-11 (GA4 access) and the data contract land is retrain on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CUTOVER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70332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Platform &amp;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CC schema end-to-end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Phoebe features wired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Demo dashboard live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Drift + coverage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188720"/>
            <a:ext cx="370332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PENDING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GA4 access (OQ-11)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Sample data export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v1 on 50%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188720"/>
            <a:ext cx="370332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Cutover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END-AUGUST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v2 on 80%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Rollback rehearsed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ADR 0004 / 0005 sign-off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Handover to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12080"/>
            <a:ext cx="11185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6B7380"/>
                </a:solidFill>
                <a:latin typeface="Calibri"/>
              </a:rPr>
              <a:t>Timeline measured from data-sample arrival, not kickoff. Phase 2 starts the day GA4 access + a sample data export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THREE ASKS, IN PRIORITY ORDER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2344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0F6E7A"/>
                </a:solidFill>
                <a:latin typeface="Calibri"/>
              </a:rPr>
              <a:t>CRITICAL PATH    </a:t>
            </a:r>
            <a:r>
              <a:rPr sz="1800" b="1" i="0">
                <a:solidFill>
                  <a:srgbClr val="0B1F3A"/>
                </a:solidFill>
                <a:latin typeface="Calibri"/>
              </a:rPr>
              <a:t>GA4 access to your Credit Cards property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333F52"/>
                </a:solidFill>
                <a:latin typeface="Calibri"/>
              </a:rPr>
              <a:t>OQ-11 — read on the analytics_&lt;property&gt; BigQuery export. Every week this slides is a week off cutover.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6060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D97306"/>
                </a:solidFill>
                <a:latin typeface="Calibri"/>
              </a:rPr>
              <a:t>WORKING SESSION    </a:t>
            </a:r>
            <a:r>
              <a:rPr sz="1800" b="1" i="0">
                <a:solidFill>
                  <a:srgbClr val="0B1F3A"/>
                </a:solidFill>
                <a:latin typeface="Calibri"/>
              </a:rPr>
              <a:t>Confirm the GA4 event taxonomy + click→cookie join key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333F52"/>
                </a:solidFill>
                <a:latin typeface="Calibri"/>
              </a:rPr>
              <a:t>OQ-12 + OQ-13 — one 60-minute call validates our best-current-guess mappings against your real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862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9776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1F8A4F"/>
                </a:solidFill>
                <a:latin typeface="Calibri"/>
              </a:rPr>
              <a:t>SIGN-OFFS    </a:t>
            </a:r>
            <a:r>
              <a:rPr sz="1800" b="1" i="0">
                <a:solidFill>
                  <a:srgbClr val="0B1F3A"/>
                </a:solidFill>
                <a:latin typeface="Calibri"/>
              </a:rPr>
              <a:t>GCP project decision + compliance sign-off on ADRs 0004 and 0005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333F52"/>
                </a:solidFill>
                <a:latin typeface="Calibri"/>
              </a:rPr>
              <a:t>OQ-1 — client project or namespaced env. The CD job is wired and gated. Two named contacts: one data owner + one engineering lead.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YOU GET  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A production service on your data, your on-call team in the cockpit, signed handover by end-August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9144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D97306"/>
                </a:solidFill>
                <a:latin typeface="Calibri"/>
              </a:rPr>
              <a:t>OVER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 i="0">
                <a:solidFill>
                  <a:srgbClr val="FFFFFF"/>
                </a:solidFill>
                <a:latin typeface="Calibri"/>
              </a:rPr>
              <a:t>Let's get the data flowing.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000" b="0" i="0">
                <a:solidFill>
                  <a:srgbClr val="F4F6FA"/>
                </a:solidFill>
                <a:latin typeface="Calibri"/>
              </a:rPr>
              <a:t>GA4 access this week. Event taxonomy next. </a:t>
            </a:r>
            <a:r>
              <a:rPr sz="2000" b="1" i="0">
                <a:solidFill>
                  <a:srgbClr val="D97306"/>
                </a:solidFill>
                <a:latin typeface="Calibri"/>
              </a:rPr>
              <a:t>Cutover end-August.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F4F6FA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