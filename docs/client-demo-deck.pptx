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73152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D97306"/>
                </a:solidFill>
                <a:latin typeface="Calibri"/>
              </a:rPr>
              <a:t>PREDICTIVE REVENUE INTELLIGENCE — CREDIT CARDS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Predictive RPC Estimator</a:t>
            </a:r>
          </a:p>
          <a:p>
            <a:r>
              <a:rPr sz="2000" b="0" i="0">
                <a:solidFill>
                  <a:srgbClr val="F4F6FA"/>
                </a:solidFill>
                <a:latin typeface="Calibri"/>
              </a:rPr>
              <a:t>Real-time revenue-per-click forecasting for Credit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</a:pPr>
            <a:r>
              <a:rPr sz="1200" b="1" i="0">
                <a:solidFill>
                  <a:srgbClr val="D97306"/>
                </a:solidFill>
                <a:latin typeface="Calibri"/>
              </a:rPr>
              <a:t>Solution demo  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Live staging environment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D97306"/>
                </a:solidFill>
                <a:latin typeface="Calibri"/>
              </a:rPr>
              <a:t>Audience  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Credit Cards leadership + technical stakeholders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D97306"/>
                </a:solidFill>
                <a:latin typeface="Calibri"/>
              </a:rPr>
              <a:t>Date  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2026-05-18</a:t>
            </a:r>
          </a:p>
          <a:p>
            <a:pPr>
              <a:lnSpc>
                <a:spcPct val="150000"/>
              </a:lnSpc>
            </a:pPr>
            <a:r>
              <a:rPr sz="800" b="0" i="0">
                <a:solidFill>
                  <a:srgbClr val="333F52"/>
                </a:solidFill>
                <a:latin typeface="Calibri"/>
              </a:rPr>
              <a:t> </a:t>
            </a:r>
          </a:p>
          <a:p>
            <a:r>
              <a:rPr sz="1100" b="1" i="0">
                <a:solidFill>
                  <a:srgbClr val="D97306"/>
                </a:solidFill>
                <a:latin typeface="Calibri"/>
              </a:rPr>
              <a:t>Live dashboard:  </a:t>
            </a:r>
            <a:r>
              <a:rPr sz="1100" b="0" i="0">
                <a:solidFill>
                  <a:srgbClr val="F4F6FA"/>
                </a:solidFill>
                <a:latin typeface="Calibri"/>
              </a:rPr>
              <a:t>https://dashboard-staging-794974391956.europe-west2.run.app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WHERE WE ARE TODAY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 i="0">
                <a:solidFill>
                  <a:srgbClr val="0F6E7A"/>
                </a:solidFill>
                <a:latin typeface="Calibri"/>
              </a:rPr>
              <a:t>A production-grade revenue forecasting service, Credit-Cards-shaped, on staging.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333F52"/>
                </a:solidFill>
                <a:latin typeface="Calibri"/>
              </a:rPr>
              <a:t>End-to-end machine-learning service predicting revenue-per-click in real time — with the Credit Cards feature schema, the 90-day reconciliation window, the safety net, and four demo-grade visualisations purpose-built for this conversation.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 i="0">
                <a:solidFill>
                  <a:srgbClr val="0F6E7A"/>
                </a:solidFill>
                <a:latin typeface="Calibri"/>
              </a:rPr>
              <a:t>Four things to take away today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33F52"/>
                </a:solidFill>
                <a:latin typeface="Calibri"/>
              </a:rPr>
              <a:t>A live model you can drive — describe a Credit Cards click in business language, press Predict, see the predicted bid, the value-based vs flat-tCPA comparison, and the explanation, all under a second.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33F52"/>
                </a:solidFill>
                <a:latin typeface="Calibri"/>
              </a:rPr>
              <a:t>The behavioural-signal layer (Phoebe / GA4) is wired into the schema and the dashboard, day one — see the user-journey animation drive the bid in real time.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33F52"/>
                </a:solidFill>
                <a:latin typeface="Calibri"/>
              </a:rPr>
              <a:t>Three failure modes commonly seen in prior value-based-bidding attempts are addressed in the platform, with the file references to prove it.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33F52"/>
                </a:solidFill>
                <a:latin typeface="Calibri"/>
              </a:rPr>
              <a:t>A clear path to your real data: 50% → 80% coverage trajectory fits the model lifecycle. End-August cutover is the target; the schema, dashboards, alerts, and CD path are already running on staging.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WHY THIS VERTICAL, WHY THIS QUARTER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The opportunity — Credit Cards,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i="0">
                <a:solidFill>
                  <a:srgbClr val="0F6E7A"/>
                </a:solidFill>
                <a:latin typeface="Calibri"/>
              </a:rPr>
              <a:t>Credit Cards PPC is under-using the sales data you already have.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333F52"/>
                </a:solidFill>
                <a:latin typeface="Calibri"/>
              </a:rPr>
              <a:t>Flat target-CPA bidding treats every Credit Cards click as the same tin of beans. The whales that actually pay back the customer-acquisition cost are over-paid for in one campaign and under-bid in another — and you only find out 90 days later when the ledger reconciles.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i="0">
                <a:solidFill>
                  <a:srgbClr val="0F6E7A"/>
                </a:solidFill>
                <a:latin typeface="Calibri"/>
              </a:rPr>
              <a:t>Why act on Credit Cards before the other verticals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Near-term commercial pressure on the channel — first vertical to pay back the platform investment.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Sales coverage is rising — 50% today to ~80% by end of June. The model lifecycle re-trains as coverage climbs.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Lower risk than Car Insurance: bid-optimisation only, no customer-decisioning surface — keeps the FCA boundary clean.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i="0">
                <a:solidFill>
                  <a:srgbClr val="0F6E7A"/>
                </a:solidFill>
                <a:latin typeface="Calibri"/>
              </a:rPr>
              <a:t>What a predictive RPC unlocks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Bid the click that's likely to convert — not the click that already did.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Reallocate spend within the hour, not the week, with the value-based bid replacing the flat tCPA target.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Detect campaign degradation before it shows up in revenue — per-segment drift alerts, week-over-week.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Explain every prediction in plain English — auditability for finance and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WHAT WE HAVE BUILT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A managed prediction service on Google Cloud, sized for Credit Cards.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Executive dashboard — KPIs in pounds, 90-day default window, product-type filter, coverage-audit panel, active-model-versions panel.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Interactive prediction — Credit-Cards-shaped form (product type, card product, query intent, affinity, prior-applicant, income band, two RPC rollups, plus four Phoebe behavioural signals).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Hero before/after — same click, side-by-side: flat-tCPA target vs value-based bid vs difference, with a session counter that runs total over time.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Phoebe journey — animated 6-step replay of a single user's behavioural signal building up and the predicted bid following it.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Explainable AI — every prediction returns per-feature attributions in plain English; 'Likely-to-apply score', 'Recent 14-day earnings', 'Time engaged'.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REST API — the same predictions available programmatically for SA360, SSGTM, OCI downstream activation.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Safety net — anomaly detection, automatic circuit-breaker, negative-prediction guards, per-call timeouts, kill-switch flag.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Per-segment drift + coverage-drop alerts — Cloud Monitoring policies fire on the dimensions that matter for CC (product_type × device × geo).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One-command deploys — tag push runs CI then CD; tested rollback to the prior model version is a single Vertex traffic-split.</a:t>
            </a:r>
          </a:p>
          <a:p>
            <a:pPr>
              <a:lnSpc>
                <a:spcPct val="120000"/>
              </a:lnSpc>
            </a:pPr>
            <a:r>
              <a:rPr sz="1000" b="0" i="1">
                <a:solidFill>
                  <a:srgbClr val="6B7380"/>
                </a:solidFill>
                <a:latin typeface="Calibri"/>
              </a:rPr>
              <a:t>All components run in Google Cloud (europe-west2, London) on managed services — Cloud Run, Vertex AI, BigQuery, Pub/Sub, Cloud Monitoring — no infrastructure for the client team to operate.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WHAT YOU RECEIVE, WHO CONSUMES IT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Deliverables and audience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420624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43000"/>
            <a:ext cx="310896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143000"/>
            <a:ext cx="3962095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CLIENT-FACING?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77295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" cy="502920"/>
          </a:xfrm>
          <a:prstGeom prst="rect">
            <a:avLst/>
          </a:prstGeom>
          <a:solidFill>
            <a:srgbClr val="1F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54480"/>
            <a:ext cx="40416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 i="0">
                <a:solidFill>
                  <a:srgbClr val="0B1F3A"/>
                </a:solidFill>
                <a:latin typeface="Consolas"/>
              </a:rPr>
              <a:t>dashboard/  (React + nginx)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554480"/>
            <a:ext cx="3108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 i="0">
                <a:solidFill>
                  <a:srgbClr val="333F52"/>
                </a:solidFill>
                <a:latin typeface="Calibri"/>
              </a:rPr>
              <a:t>Executive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554480"/>
            <a:ext cx="3962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1F8A4F"/>
                </a:solidFill>
                <a:latin typeface="Calibri"/>
              </a:rPr>
              <a:t>● </a:t>
            </a:r>
            <a:r>
              <a:rPr sz="1100" b="1" i="0">
                <a:solidFill>
                  <a:srgbClr val="0B1F3A"/>
                </a:solidFill>
                <a:latin typeface="Calibri"/>
              </a:rPr>
              <a:t>Yes — primary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54864" cy="502920"/>
          </a:xfrm>
          <a:prstGeom prst="rect">
            <a:avLst/>
          </a:prstGeom>
          <a:solidFill>
            <a:srgbClr val="0F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057400"/>
            <a:ext cx="40416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 i="0">
                <a:solidFill>
                  <a:srgbClr val="0B1F3A"/>
                </a:solidFill>
                <a:latin typeface="Consolas"/>
              </a:rPr>
              <a:t>scoring-api  /v1/score, /v1/explain  (Rust)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3108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 i="0">
                <a:solidFill>
                  <a:srgbClr val="333F52"/>
                </a:solidFill>
                <a:latin typeface="Calibri"/>
              </a:rPr>
              <a:t>Bidder integration: SA360 / SSGTM / OCI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57400"/>
            <a:ext cx="3962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0F6E7A"/>
                </a:solidFill>
                <a:latin typeface="Calibri"/>
              </a:rPr>
              <a:t>● </a:t>
            </a:r>
            <a:r>
              <a:rPr sz="1100" b="0" i="0">
                <a:solidFill>
                  <a:srgbClr val="333F52"/>
                </a:solidFill>
                <a:latin typeface="Calibri"/>
              </a:rPr>
              <a:t>API only — invoked live by the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11277295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0F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560320"/>
            <a:ext cx="40416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 i="0">
                <a:solidFill>
                  <a:srgbClr val="0B1F3A"/>
                </a:solidFill>
                <a:latin typeface="Consolas"/>
              </a:rPr>
              <a:t>reconciliation  /reconciliation, /coverage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560320"/>
            <a:ext cx="3108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 i="0">
                <a:solidFill>
                  <a:srgbClr val="333F52"/>
                </a:solidFill>
                <a:latin typeface="Calibri"/>
              </a:rPr>
              <a:t>Powers the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560320"/>
            <a:ext cx="3962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0F6E7A"/>
                </a:solidFill>
                <a:latin typeface="Calibri"/>
              </a:rPr>
              <a:t>● </a:t>
            </a:r>
            <a:r>
              <a:rPr sz="1100" b="0" i="0">
                <a:solidFill>
                  <a:srgbClr val="333F52"/>
                </a:solidFill>
                <a:latin typeface="Calibri"/>
              </a:rPr>
              <a:t>API only — invisible to client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6324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063240"/>
            <a:ext cx="54864" cy="502920"/>
          </a:xfrm>
          <a:prstGeom prst="rect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63240"/>
            <a:ext cx="40416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 i="0">
                <a:solidFill>
                  <a:srgbClr val="0B1F3A"/>
                </a:solidFill>
                <a:latin typeface="Consolas"/>
              </a:rPr>
              <a:t>activation  (Python)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063240"/>
            <a:ext cx="3108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 i="0">
                <a:solidFill>
                  <a:srgbClr val="333F52"/>
                </a:solidFill>
                <a:latin typeface="Calibri"/>
              </a:rPr>
              <a:t>SA360 / SSGTM / OCI push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063240"/>
            <a:ext cx="3962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6B7380"/>
                </a:solidFill>
                <a:latin typeface="Calibri"/>
              </a:rPr>
              <a:t>● </a:t>
            </a:r>
            <a:r>
              <a:rPr sz="1100" b="0" i="0">
                <a:solidFill>
                  <a:srgbClr val="333F52"/>
                </a:solidFill>
                <a:latin typeface="Calibri"/>
              </a:rPr>
              <a:t>Backend, no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66160"/>
            <a:ext cx="11277295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566160"/>
            <a:ext cx="54864" cy="502920"/>
          </a:xfrm>
          <a:prstGeom prst="rect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566160"/>
            <a:ext cx="40416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 i="0">
                <a:solidFill>
                  <a:srgbClr val="0B1F3A"/>
                </a:solidFill>
                <a:latin typeface="Consolas"/>
              </a:rPr>
              <a:t>breaker-automation, ml-pipeline, bounds-calibration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566160"/>
            <a:ext cx="3108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 i="0">
                <a:solidFill>
                  <a:srgbClr val="333F52"/>
                </a:solidFill>
                <a:latin typeface="Calibri"/>
              </a:rPr>
              <a:t>Internal / scheduled training and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566160"/>
            <a:ext cx="3962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6B7380"/>
                </a:solidFill>
                <a:latin typeface="Calibri"/>
              </a:rPr>
              <a:t>● </a:t>
            </a:r>
            <a:r>
              <a:rPr sz="1100" b="0" i="0">
                <a:solidFill>
                  <a:srgbClr val="333F52"/>
                </a:solidFill>
                <a:latin typeface="Calibri"/>
              </a:rPr>
              <a:t>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6908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069080"/>
            <a:ext cx="54864" cy="50292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069080"/>
            <a:ext cx="40416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 i="0">
                <a:solidFill>
                  <a:srgbClr val="0B1F3A"/>
                </a:solidFill>
                <a:latin typeface="Consolas"/>
              </a:rPr>
              <a:t>Dataform: phoebe_features, coverage_audit, drift / coverage breach 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069080"/>
            <a:ext cx="3108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 i="0">
                <a:solidFill>
                  <a:srgbClr val="333F52"/>
                </a:solidFill>
                <a:latin typeface="Calibri"/>
              </a:rPr>
              <a:t>Analyst + monitoring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069080"/>
            <a:ext cx="3962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D9730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333F52"/>
                </a:solidFill>
                <a:latin typeface="Calibri"/>
              </a:rPr>
              <a:t>BigQuery direct or Looker Studio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572000"/>
            <a:ext cx="11277295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572000"/>
            <a:ext cx="54864" cy="502920"/>
          </a:xfrm>
          <a:prstGeom prst="rect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572000"/>
            <a:ext cx="40416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 i="0">
                <a:solidFill>
                  <a:srgbClr val="0B1F3A"/>
                </a:solidFill>
                <a:latin typeface="Consolas"/>
              </a:rPr>
              <a:t>ops/breach_emitter.py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572000"/>
            <a:ext cx="3108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0" i="0">
                <a:solidFill>
                  <a:srgbClr val="333F52"/>
                </a:solidFill>
                <a:latin typeface="Calibri"/>
              </a:rPr>
              <a:t>Daily Cloud-Scheduler driven breach → alert emitter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572000"/>
            <a:ext cx="3962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6B7380"/>
                </a:solidFill>
                <a:latin typeface="Calibri"/>
              </a:rPr>
              <a:t>● </a:t>
            </a:r>
            <a:r>
              <a:rPr sz="1100" b="0" i="0">
                <a:solidFill>
                  <a:srgbClr val="333F52"/>
                </a:solidFill>
                <a:latin typeface="Calibri"/>
              </a:rPr>
              <a:t>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184648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6B7380"/>
                </a:solidFill>
                <a:latin typeface="Calibri"/>
              </a:rPr>
              <a:t>Nothing else in the repository is a runnable demo. The dashboard plus a handful of API calls against the scoring service is the complete client-facing surface.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PREDICTIVE RPC ESTIMATOR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End-to-end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017" y="1051560"/>
            <a:ext cx="9471660" cy="5166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70882" y="3358931"/>
            <a:ext cx="1177230" cy="174902"/>
          </a:xfrm>
          <a:prstGeom prst="rect">
            <a:avLst/>
          </a:prstGeom>
          <a:solidFill>
            <a:srgbClr val="4E8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Bounds Calibration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SEVEN MINUTES, ONE URL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Live demo — what you will see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0F6E7A"/>
                </a:solidFill>
                <a:latin typeface="Calibri"/>
              </a:rPr>
              <a:t>1.  KPIs in pounds, 90-day default — and a product-type filter.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333F52"/>
                </a:solidFill>
                <a:latin typeface="Calibri"/>
              </a:rPr>
              <a:t>We open the dashboard. Five KPIs — clicks scored, expected vs realised earning, typical error, and conversion coverage — explain accuracy in business language. The window defaults to 90 days for Credit Cards. The product-type filter re-segments the chart in one click.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0F6E7A"/>
                </a:solidFill>
                <a:latin typeface="Calibri"/>
              </a:rPr>
              <a:t>2.  Where we have full visibility — coverage panel.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333F52"/>
                </a:solidFill>
                <a:latin typeface="Calibri"/>
              </a:rPr>
              <a:t>A bar chart shows coverage % per product-type slice. Red bars are slices below 60% — the slices where we'd ask for ingestion backfill before retraining. This is how we answer the 50% question, slice by slice, not as an aggregate.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0F6E7A"/>
                </a:solidFill>
                <a:latin typeface="Calibri"/>
              </a:rPr>
              <a:t>3.  Hero before/after — flat tCPA vs value-based bid, on the same click.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333F52"/>
                </a:solidFill>
                <a:latin typeface="Calibri"/>
              </a:rPr>
              <a:t>Three side-by-side cards: Old-world flat target-CPA, New-world value-based bid (70% of predicted RPC), and the difference — over-paid prevented or under-bid recovered. A session counter accumulates the total across every prediction the audience fires.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0F6E7A"/>
                </a:solidFill>
                <a:latin typeface="Calibri"/>
              </a:rPr>
              <a:t>4.  You drive the model — yourself.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333F52"/>
                </a:solidFill>
                <a:latin typeface="Calibri"/>
              </a:rPr>
              <a:t>Form fields in Credit-Cards language: product type, card product, query intent (compare/shop/apply/research), 'how likely to apply', 'used a calculator', 'guides read', 'cards compared', 'time engaged'. Press Predict — the pipeline-trace lights up in real time: validate → guardrails → Vertex AI → BigQuery → SHAP.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0F6E7A"/>
                </a:solidFill>
                <a:latin typeface="Calibri"/>
              </a:rPr>
              <a:t>5.  The Phoebe journey — bouncer with a crystal ball.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333F52"/>
                </a:solidFill>
                <a:latin typeface="Calibri"/>
              </a:rPr>
              <a:t>Press Play. A single user moves through six steps — search → page view → calculator → guides → compare-5 → click. The predicted bid ticks up under each step card as their behavioural signal builds. A lift pill shows the £ gap from first to last step.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0F6E7A"/>
                </a:solidFill>
                <a:latin typeface="Calibri"/>
              </a:rPr>
              <a:t>6.  Why the model said that.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333F52"/>
                </a:solidFill>
                <a:latin typeface="Calibri"/>
              </a:rPr>
              <a:t>Horizontal-bar attribution chart on every prediction. Names are in business English ('Likely-to-apply score', 'Recent 14-day earnings', 'Time engaged'). Auditable for finance and compliance — ADR 0004 forbids these signals reaching customer terms.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0F6E7A"/>
                </a:solidFill>
                <a:latin typeface="Calibri"/>
              </a:rPr>
              <a:t>7.  The platform context — what we've designed against; what's next.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333F52"/>
                </a:solidFill>
                <a:latin typeface="Calibri"/>
              </a:rPr>
              <a:t>Three failure modes named at the bottom of the page — pricing leakage, uncontrolled bidding, invisible decay — each mapped to where the platform pushes back. And a five-vertical roadmap: Credit Cards live, Loans / Home / Life / Mortgages dated.</a:t>
            </a:r>
          </a:p>
          <a:p>
            <a:pPr>
              <a:lnSpc>
                <a:spcPct val="120000"/>
              </a:lnSpc>
            </a:pPr>
            <a:r>
              <a:rPr sz="900" b="0" i="1">
                <a:solidFill>
                  <a:srgbClr val="6B7380"/>
                </a:solidFill>
                <a:latin typeface="Calibri"/>
              </a:rPr>
              <a:t>Live dashboard  ·  https://dashboard-staging-794974391956.europe-west2.run.app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LOAD TEST, LIVE STAGING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Measured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965960" cy="73152"/>
          </a:xfrm>
          <a:prstGeom prst="rect">
            <a:avLst/>
          </a:prstGeom>
          <a:solidFill>
            <a:srgbClr val="0F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965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0B1F3A"/>
                </a:solidFill>
                <a:latin typeface="Calibri"/>
              </a:rPr>
              <a:t>561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380"/>
                </a:solidFill>
                <a:latin typeface="Calibri"/>
              </a:rPr>
              <a:t>Median (p50) /v1/score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23444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1234440"/>
            <a:ext cx="1965960" cy="73152"/>
          </a:xfrm>
          <a:prstGeom prst="rect">
            <a:avLst/>
          </a:prstGeom>
          <a:solidFill>
            <a:srgbClr val="1F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463040"/>
            <a:ext cx="1965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0B1F3A"/>
                </a:solidFill>
                <a:latin typeface="Calibri"/>
              </a:rPr>
              <a:t>762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10312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380"/>
                </a:solidFill>
                <a:latin typeface="Calibri"/>
              </a:rPr>
              <a:t>p95 /v1/score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23444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234440"/>
            <a:ext cx="1965960" cy="73152"/>
          </a:xfrm>
          <a:prstGeom prst="rect">
            <a:avLst/>
          </a:prstGeom>
          <a:solidFill>
            <a:srgbClr val="0F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463040"/>
            <a:ext cx="1965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0B1F3A"/>
                </a:solidFill>
                <a:latin typeface="Calibri"/>
              </a:rPr>
              <a:t>993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0312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380"/>
                </a:solidFill>
                <a:latin typeface="Calibri"/>
              </a:rPr>
              <a:t>p99 /v1/score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23444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1234440"/>
            <a:ext cx="1965960" cy="73152"/>
          </a:xfrm>
          <a:prstGeom prst="rect">
            <a:avLst/>
          </a:prstGeom>
          <a:solidFill>
            <a:srgbClr val="1F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463040"/>
            <a:ext cx="1965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1F8A4F"/>
                </a:solidFill>
                <a:latin typeface="Calibri"/>
              </a:rPr>
              <a:t>100 %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10312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380"/>
                </a:solidFill>
                <a:latin typeface="Calibri"/>
              </a:rPr>
              <a:t>Success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83464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i="0">
                <a:solidFill>
                  <a:srgbClr val="0F6E7A"/>
                </a:solidFill>
                <a:latin typeface="Calibri"/>
              </a:rPr>
              <a:t>Headroom against the SLO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Staging p95 latency budget is 1500 ms — observed 762 ms leaves roughly a 2× margin before alerts fire.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Zero errors at the tested rate; prior runs showed the service recovers cleanly under autoscaling load.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Production sizing has been pre-computed from these numbers — a larger Vertex machine and a minimum of two replicas keep the same headroom under client traffic.</a:t>
            </a:r>
          </a:p>
          <a:p>
            <a:pPr>
              <a:lnSpc>
                <a:spcPct val="120000"/>
              </a:lnSpc>
            </a:pPr>
            <a:r>
              <a:rPr sz="1100" b="0" i="1">
                <a:solidFill>
                  <a:srgbClr val="6B7380"/>
                </a:solidFill>
                <a:latin typeface="Calibri"/>
              </a:rPr>
              <a:t>Source: ops/perf/20260428T094507Z__v1_score.json  ·  tool: oha, 30s @ c=10  ·  europe-west2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WHAT RUNS UNDERNEATH THE DEMO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Production-grade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i="0">
                <a:solidFill>
                  <a:srgbClr val="0F6E7A"/>
                </a:solidFill>
                <a:latin typeface="Calibri"/>
              </a:rPr>
              <a:t>Reliability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Circuit-breaker on the upstream model — fails fast and recovers automatically.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Configurable timeouts for model and warehouse calls — no request hangs indefinitely.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Negative-prediction clamp and input validation at the edge.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Anomaly window on null-rates flips the breaker before bad data reaches finance.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4300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i="0">
                <a:solidFill>
                  <a:srgbClr val="0F6E7A"/>
                </a:solidFill>
                <a:latin typeface="Calibri"/>
              </a:rPr>
              <a:t>Operability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Every change ships through GitHub Actions on tag push, gated by tests, type checks, and security scan.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Workload Identity Federation — no service-account keys to manage or rotate.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Cloud Monitoring alerts on latency, error rate, breaker trips, and anomaly state.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3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F52"/>
                </a:solidFill>
                <a:latin typeface="Calibri"/>
              </a:rPr>
              <a:t>Runbooks committed for breaker reset, model rollback, secret rotation, and cost scale-down.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WHAT WE EVALUATED, AND WHAT WE CHOSE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Why these technology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6E7A"/>
                </a:solidFill>
                <a:latin typeface="Calibri"/>
              </a:rPr>
              <a:t>Hot path — Rust on Cloud Run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Latency budget: /v1/score p99 ≤ 2.5 s end-to-end; Vertex AI predict round-trip dominates ~700 ms. Rust gives us the rest of the budget for safety-net composition (bounds → fallback, circuit breaker, anomaly window) with zero GC jitter.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Considered Go and Python; both leave less headroom and complicate the breaker's idempotency guarantees.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6E7A"/>
                </a:solidFill>
                <a:latin typeface="Calibri"/>
              </a:rPr>
              <a:t>Model — XGBoost on Vertex AI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Feature space is tabular and ~11 columns wide. GBDT is the empirically dominant family for tabular regression at this scale.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Vertex's prebuilt xgboost-cpu container ships native explanationSpec (Sampled-Shapley) — /v1/explain comes free; deep models need a separate KernelSHAP that's slower, noisier, harder to audit under ADR 0004.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Deterministic predict call composes cleanly with the circuit breaker; transformers' stateful decoding would not.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6E7A"/>
                </a:solidFill>
                <a:latin typeface="Calibri"/>
              </a:rPr>
              <a:t>Frontend — TypeScript + React + Vite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Single demo URL; realtime interactivity (live prediction, animated Phoebe journey). Zod validates the JSON at the boundary.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No server-side rendering — keeps the dashboard a static-asset deploy behind a single Cloud Run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6E7A"/>
                </a:solidFill>
                <a:latin typeface="Calibri"/>
              </a:rPr>
              <a:t>Cross-service contracts — Protobuf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Wire stability across Rust ↔ Python; codegen per language; cross-language parity test in CI guards drift.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Considered JSON Schema — adequate, but loses the on-wire byte-stability we rely on for the audit trail.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6E7A"/>
                </a:solidFill>
                <a:latin typeface="Calibri"/>
              </a:rPr>
              <a:t>Data layer — Dataform on BigQuery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Same SQL primitives as dbt; one less tool the client team has to install and learn.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Type-safe ref()s give us the dependency graph automatically: coverage_audit, residuals_by_segment, drift_breaches_weekly all light up in the right order.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6E7A"/>
                </a:solidFill>
                <a:latin typeface="Calibri"/>
              </a:rPr>
              <a:t>Identity — Workload Identity Federation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GitHub OIDC federates into GCP. No long-lived service-account keys to rotate, leak, or audit.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Per-service service accounts; every IAM grant is in Terraform — reviewable in git, not in the console.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6E7A"/>
                </a:solidFill>
                <a:latin typeface="Calibri"/>
              </a:rPr>
              <a:t>Runtime — Cloud Run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Request-driven autoscaling; min=1 keeps the demo warm at ~£3-5/day; max ramps under load tests without paging us.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F52"/>
                </a:solidFill>
                <a:latin typeface="Calibri"/>
              </a:rPr>
              <a:t>Considered GKE — overkill for a service that's CPU-bound and stateless; we'd pay for cluster overhead we don't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BUILT TO PASS REVIEW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Security and compliance posture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Identity and access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Per-service service accounts; least-privilege IAM encoded in Terraform — every grant is reviewable in git.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No long-lived secrets in CI: GitHub OIDC federates into Google Cloud via Workload Identity.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Secrets in Secret Manager with versioning; rotation is a runbooked one-liner.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Data protection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All data resident in europe-west2 (London). No US-region replicas.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Google-managed encryption keys by default; customer-managed keys (CMEK) available on request.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Predictions are persisted to BigQuery with the same access controls as your existing analytics estate.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Compliance boundary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ADR 0004: bid-optimisation only. No customer identifiers ingested; no model output reaches any system that affects customer terms or eligibility.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ADR 0005 (in flight): GA4 / Phoebe PII boundary — hashed user_pseudo_id only; raw user_id and PII event params stripped at the staging view.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Supply chain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Container images pinned by digest; dependency scanning runs on every PR; no third-party model weights are downloaded at runtime.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FROM YOUR LEDGER TO A LIVE PREDICTION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Data and model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Three feeds, one model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Click stream (CM360) — Credit Cards schema: product_type, card_product_id, query_intent (CC enum), affinity_score, prior_applicant, income_band_bucket, rpc_14d/60d, landing_path, visits_prev_30d.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Sales ledger — multi-stage events (application_started → submitted → approved → activated → first_spend → chargeback) with revenue, margin_rate (Soteria-ready), card_product_id, currency.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GA4 / Phoebe — behavioural rollup (calculator_used, guides_read, cards_compared, session_engagement_s), per cookie, nightly. Joined at training; looked up at serving.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Label and reconciliation window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Sum-of-rewards over a 90-day window (ADR 0003 — fits the CC consideration tail). Profit-ready: realised label is SUM(revenue × COALESCE(margin_rate, 1.0)); commission table swaps in as a data-only change.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Training and release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Vertex AI Pipelines run from the same monorepo — reproducible from a commit. Every version registered in Vertex Model Registry.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Canary path: 10% traffic split → 50% over 48h → 100%. Active-versions panel on the dashboard shows the share and rolling MAE side-by-side.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Drift on inputs (PSI per numeric feature), outputs (residuals_daily), per-segment (product × device × geo), and coverage (slice drop W-o-W).</a:t>
            </a:r>
          </a:p>
          <a:p>
            <a:pPr>
              <a:lnSpc>
                <a:spcPct val="120000"/>
              </a:lnSpc>
            </a:pPr>
            <a:r>
              <a:rPr sz="1000" b="0" i="1">
                <a:solidFill>
                  <a:srgbClr val="6B7380"/>
                </a:solidFill>
                <a:latin typeface="Calibri"/>
              </a:rPr>
              <a:t>Today's demo runs against a model trained on a synthetic dataset that mirrors the agreed schema. Retraining on real Credit Cards data is the first work item once OQ-11 (GA4 access) and the data contract are signed.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RUN-BOOK READY, ON DAY ONE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Operational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Service-level objectives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Availability target 99.5% on /v1/score; latency SLO sized from the live load profile (p95 ~920 ms vs 1500 ms threshold).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Error-budget policy: breaches automatically open an incident channel (notification channel pending OQ-2).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Observability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Cloud Logging, Cloud Trace, and Cloud Monitoring out of the box — one pane of glass for the on-call engineer.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Six alert policies pre-wired: latency p95, error rate, breaker trips, anomaly state, per-segment MAE drift &gt; 25% W-o-W, per-slice coverage drop &gt; 10pp W-o-W.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Runbooks committed to the repository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Reset the breaker · Roll back a model version · Scale Vertex to zero for cost · Rotate a secret · Migrate the BigQuery schema · Coverage audit (random-vs-systematic decision).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Rollback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Vertex traffic-split rollback to the previous model version is a single command; Cloud Run revisions are pinned and revertible.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FROM HERE TO PRODUCTION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Delivery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8404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3840480" cy="502920"/>
          </a:xfrm>
          <a:prstGeom prst="rect">
            <a:avLst/>
          </a:prstGeom>
          <a:solidFill>
            <a:srgbClr val="1F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52728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  <a:p>
            <a:r>
              <a:rPr sz="1500" b="1" i="0">
                <a:solidFill>
                  <a:srgbClr val="FFFFFF"/>
                </a:solidFill>
                <a:latin typeface="Calibri"/>
              </a:rPr>
              <a:t>Platform &amp;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1F8A4F"/>
                </a:solidFill>
                <a:latin typeface="Calibri"/>
              </a:rPr>
              <a:t>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1" i="0">
                <a:solidFill>
                  <a:srgbClr val="1F8A4F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Credit Cards schema end-to-end</a:t>
            </a:r>
          </a:p>
          <a:p>
            <a:pPr>
              <a:lnSpc>
                <a:spcPct val="125000"/>
              </a:lnSpc>
            </a:pPr>
            <a:r>
              <a:rPr sz="1200" b="1" i="0">
                <a:solidFill>
                  <a:srgbClr val="1F8A4F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Phoebe behavioural features wired</a:t>
            </a:r>
          </a:p>
          <a:p>
            <a:pPr>
              <a:lnSpc>
                <a:spcPct val="125000"/>
              </a:lnSpc>
            </a:pPr>
            <a:r>
              <a:rPr sz="1200" b="1" i="0">
                <a:solidFill>
                  <a:srgbClr val="1F8A4F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Demo dashboard live</a:t>
            </a:r>
          </a:p>
          <a:p>
            <a:pPr>
              <a:lnSpc>
                <a:spcPct val="125000"/>
              </a:lnSpc>
            </a:pPr>
            <a:r>
              <a:rPr sz="1200" b="1" i="0">
                <a:solidFill>
                  <a:srgbClr val="1F8A4F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Drift + coverage alerting in 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188720"/>
            <a:ext cx="38404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3840480" cy="50292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252728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  <a:p>
            <a:r>
              <a:rPr sz="1500" b="1" i="0">
                <a:solidFill>
                  <a:srgbClr val="FFFFFF"/>
                </a:solidFill>
                <a:latin typeface="Calibri"/>
              </a:rPr>
              <a:t>Real data (50% → 80%)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745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D97306"/>
                </a:solidFill>
                <a:latin typeface="Calibri"/>
              </a:rPr>
              <a:t>PENDING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24028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GA4 access (OQ-11) granted</a:t>
            </a:r>
          </a:p>
          <a:p>
            <a:pPr>
              <a:lnSpc>
                <a:spcPct val="125000"/>
              </a:lnSpc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Click + ledger sample lands</a:t>
            </a:r>
          </a:p>
          <a:p>
            <a:pPr>
              <a:lnSpc>
                <a:spcPct val="125000"/>
              </a:lnSpc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v1 trained on 50% coverage</a:t>
            </a:r>
          </a:p>
          <a:p>
            <a:pPr>
              <a:lnSpc>
                <a:spcPct val="125000"/>
              </a:lnSpc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Canary 10% → 100% on client env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188720"/>
            <a:ext cx="38404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1188720"/>
            <a:ext cx="3840480" cy="502920"/>
          </a:xfrm>
          <a:prstGeom prst="rect">
            <a:avLst/>
          </a:prstGeom>
          <a:solidFill>
            <a:srgbClr val="0F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252728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  <a:p>
            <a:r>
              <a:rPr sz="1500" b="1" i="0">
                <a:solidFill>
                  <a:srgbClr val="FFFFFF"/>
                </a:solidFill>
                <a:latin typeface="Calibri"/>
              </a:rPr>
              <a:t>Cutover &amp; handover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8745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F6E7A"/>
                </a:solidFill>
                <a:latin typeface="Calibri"/>
              </a:rPr>
              <a:t>END-AUGUST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24028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1" i="0">
                <a:solidFill>
                  <a:srgbClr val="0F6E7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v2 retrained on 80% coverage</a:t>
            </a:r>
          </a:p>
          <a:p>
            <a:pPr>
              <a:lnSpc>
                <a:spcPct val="125000"/>
              </a:lnSpc>
            </a:pPr>
            <a:r>
              <a:rPr sz="1200" b="1" i="0">
                <a:solidFill>
                  <a:srgbClr val="0F6E7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Rollback rehearsed in low traffic</a:t>
            </a:r>
          </a:p>
          <a:p>
            <a:pPr>
              <a:lnSpc>
                <a:spcPct val="125000"/>
              </a:lnSpc>
            </a:pPr>
            <a:r>
              <a:rPr sz="1200" b="1" i="0">
                <a:solidFill>
                  <a:srgbClr val="0F6E7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Compliance sign-off on ADRs 0004/0005</a:t>
            </a:r>
          </a:p>
          <a:p>
            <a:pPr>
              <a:lnSpc>
                <a:spcPct val="125000"/>
              </a:lnSpc>
            </a:pPr>
            <a:r>
              <a:rPr sz="1200" b="1" i="0">
                <a:solidFill>
                  <a:srgbClr val="0F6E7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Handover to client on-call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8348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Calibri"/>
              </a:rPr>
              <a:t>Timeline measured from data-sample arrival, not kickoff. Phase 1 is on staging today; Phase 2 starts the day GA4 access + a sample data export land.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64592" wrap="square"/>
          <a:lstStyle/>
          <a:p>
            <a:pPr algn="ctr"/>
            <a:r>
              <a:rPr sz="1000" b="1" i="0">
                <a:solidFill>
                  <a:srgbClr val="D97306"/>
                </a:solidFill>
                <a:latin typeface="Calibri"/>
              </a:rPr>
              <a:t>NEXT STEPS TO UNLOCK VALUE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What we need from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Five decisions, in priority order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GA4 access (OQ-11) — read on the Credit Cards analytics_&lt;property&gt; dataset. This is the critical path; everything downstream slips a week per week this slides.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Confirm GA4 event taxonomy (OQ-12) — which event_name values map to 'calculator used', 'guide read', 'card compare'. Best-current-guess in our staging schema; one working session to validate.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Click → cookie join key (OQ-13) — server-side CM360 + GA4 merge, first-party-cookie pass-through, or no-join. Decides whether Phoebe lifts the live model.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GCP project (OQ-1) — client's own or a namespaced env in our msm-rpc project. We can move either way; the deploy-client-cc CD job is already wired and gated on the decision.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Compliance contact + sign-off on ADRs 0004 (FCA boundary) and 0005 (GA4 PII boundary). Two named contacts: one data owner + one engineering lead.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What you also get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The Car Insurance failure summary from Ryan refines our 'designed against' tile from speculation to confirmed mitigations.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Read-only access to the live staging environment for your team to probe.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F6E7A"/>
                </a:solidFill>
                <a:latin typeface="Calibri"/>
              </a:rPr>
              <a:t>What you get at the end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00" b="1" i="0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3F52"/>
                </a:solidFill>
                <a:latin typeface="Calibri"/>
              </a:rPr>
              <a:t>A production service, on your data, with your on-call team in the cockpit and a signed handover by end-August.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6B7380"/>
                </a:solidFill>
                <a:latin typeface="Calibri"/>
              </a:rPr>
              <a:t>Predictive RPC Estimator — Client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F4F6FA"/>
                </a:solidFill>
                <a:latin typeface="Calibri"/>
              </a:rPr>
              <a:t>Predictive RPC Estimator  ·  Live demo  · 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D97306"/>
                </a:solidFill>
                <a:latin typeface="Calibri"/>
              </a:rPr>
              <a:t>Live dashboard  ·  https://dashboard-staging-794974391956.europe-west2.run.app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