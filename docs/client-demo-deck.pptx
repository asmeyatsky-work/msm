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97306"/>
                </a:solidFill>
                <a:latin typeface="Calibri"/>
              </a:rPr>
              <a:t>PREDICTIVE REVENUE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Predictive RPC Estimator</a:t>
            </a:r>
          </a:p>
          <a:p>
            <a:r>
              <a:rPr sz="2000" b="0" i="0">
                <a:solidFill>
                  <a:srgbClr val="F4F6FA"/>
                </a:solidFill>
                <a:latin typeface="Calibri"/>
              </a:rPr>
              <a:t>Real-time revenue-per-click forecasting on Google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891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Solution demo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Live staging environment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Audience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Client executive and technical stakeholders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Date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2026-05-11</a:t>
            </a:r>
          </a:p>
          <a:p>
            <a:pPr>
              <a:lnSpc>
                <a:spcPct val="150000"/>
              </a:lnSpc>
            </a:pPr>
            <a:r>
              <a:rPr sz="800" b="0" i="0">
                <a:solidFill>
                  <a:srgbClr val="333F52"/>
                </a:solidFill>
                <a:latin typeface="Calibri"/>
              </a:rPr>
              <a:t> </a:t>
            </a:r>
          </a:p>
          <a:p>
            <a:r>
              <a:rPr sz="1100" b="1" i="0">
                <a:solidFill>
                  <a:srgbClr val="D97306"/>
                </a:solidFill>
                <a:latin typeface="Calibri"/>
              </a:rPr>
              <a:t>Live dashboard:  </a:t>
            </a:r>
            <a:r>
              <a:rPr sz="1100" b="0" i="0">
                <a:solidFill>
                  <a:srgbClr val="F4F6FA"/>
                </a:solidFill>
                <a:latin typeface="Calibri"/>
              </a:rPr>
              <a:t>https://dashboard-staging-794974391956.europe-west2.run.app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WHERE WE ARE TODAY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A production-grade revenue forecasting service is operational.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have built and deployed an end-to-end machine-learning service that predicts revenue-per-click in real time, with the engineering controls required to run it safely in production.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Three things to take away today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Working software — a live API on Google Cloud is serving predictions right now, with measured p95 latency under one second.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Production engineering — circuit breakers, drift monitoring, explainability, alerting, runbooks, and a tested rollback path are all in place.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clear path to your data — the platform is ready to ingest real click and sales-ledger feeds; the model retrains and canary-deploys without downtime.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WHY THIS MATTERS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The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Bidding and budget decisions today rely on lagging signals.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Revenue per click is reconciled days after the fact, from a sales ledger that lives apart from the ad platforms making spend decisions. By the time the numbers settle, the budget has already been committed.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What a predictive RPC unlocks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Bid the click that's likely to convert — not the click that already did.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Reallocate spend within the hour, not the week.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Detect campaign degradation before it shows up in revenue.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Explain every prediction — auditability for finance and compliance.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WE HAVE BUILT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Solution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A managed prediction service on Google Cloud.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REST API — POST a click context, receive an RPC estimate in under a second.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Explainability — every prediction can return per-feature attributions so analysts can see why the model said what it said.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Streaming ingestion — predictions land in BigQuery for analytics, reconciliation, and downstream activation.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Safety net — anomaly detection, automatic circuit-breaker, negative-prediction guards, configurable timeouts.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One-command deploys — every change ships through CI with a tested rollback to the prior model version.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 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All components run in Google Cloud (europe-west2, London) on managed services — Cloud Run, Vertex AI, BigQuery, Pub/Sub — so there is no infrastructure for the client team to operate.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YOU RECEIVE, WHO CONSUMES IT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Deliverables and audience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4206240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143000"/>
            <a:ext cx="3108960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AUDIENCE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143000"/>
            <a:ext cx="3962095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CLIENT-FACING?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4864" cy="502920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55448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dashboard/  (React + nginx)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55448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Executive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55448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1F8A4F"/>
                </a:solidFill>
                <a:latin typeface="Calibri"/>
              </a:rPr>
              <a:t>● </a:t>
            </a:r>
            <a:r>
              <a:rPr sz="1100" b="1" i="0">
                <a:solidFill>
                  <a:srgbClr val="0B1F3A"/>
                </a:solidFill>
                <a:latin typeface="Calibri"/>
              </a:rPr>
              <a:t>Yes — primary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57400"/>
            <a:ext cx="112772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57400"/>
            <a:ext cx="54864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05740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scoring-api  /v1/score, /v1/explain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05740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Their backend / SA360 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05740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0F6E7A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API only — show via curl / Postman on slide 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60320"/>
            <a:ext cx="54864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56032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reconciliation  /reconciliation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56032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Powers the 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56032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0F6E7A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API only — invisible to client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63240"/>
            <a:ext cx="112772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063240"/>
            <a:ext cx="54864" cy="502920"/>
          </a:xfrm>
          <a:prstGeom prst="rect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306324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activation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06324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SA360 / SSGTM push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06324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6B7380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Backend, no UI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566160"/>
            <a:ext cx="54864" cy="502920"/>
          </a:xfrm>
          <a:prstGeom prst="rect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356616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breaker-automation, ml-pipeline, bounds-calibration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56616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Internal / scheduled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56616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6B7380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Backend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069080"/>
            <a:ext cx="112772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069080"/>
            <a:ext cx="54864" cy="502920"/>
          </a:xfrm>
          <a:prstGeom prst="rect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406908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mcp-servers/scoring-mcp, mlops-mcp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06908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Agent tooling for engineers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06908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6B7380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Not client-facing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11277295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4572000"/>
            <a:ext cx="54864" cy="50292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1792" y="4572000"/>
            <a:ext cx="4041648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 i="0">
                <a:solidFill>
                  <a:srgbClr val="0B1F3A"/>
                </a:solidFill>
                <a:latin typeface="Consolas"/>
              </a:rPr>
              <a:t>Dataform models, BigQuery views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572000"/>
            <a:ext cx="3108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0" i="0">
                <a:solidFill>
                  <a:srgbClr val="333F52"/>
                </a:solidFill>
                <a:latin typeface="Calibri"/>
              </a:rPr>
              <a:t>Analyst layer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4572000"/>
            <a:ext cx="39620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D97306"/>
                </a:solidFill>
                <a:latin typeface="Calibri"/>
              </a:rPr>
              <a:t>● </a:t>
            </a:r>
            <a:r>
              <a:rPr sz="1100" b="0" i="0">
                <a:solidFill>
                  <a:srgbClr val="333F52"/>
                </a:solidFill>
                <a:latin typeface="Calibri"/>
              </a:rPr>
              <a:t>Available in Looker Studio as a second visual artefact (optional)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184648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B7380"/>
                </a:solidFill>
                <a:latin typeface="Calibri"/>
              </a:rPr>
              <a:t>Nothing else in the repository is a runnable demo. The dashboard plus a handful of API calls against the scoring service is the complete client-facing surface.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PREDICTIVE RPC ESTIMATOR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End-to-end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051560"/>
            <a:ext cx="10424160" cy="5303520"/>
          </a:xfrm>
          <a:prstGeom prst="roundRect">
            <a:avLst>
              <a:gd name="adj" fmla="val 2000"/>
            </a:avLst>
          </a:prstGeom>
          <a:solidFill>
            <a:srgbClr val="ECEFF4"/>
          </a:solidFill>
          <a:ln w="12700">
            <a:solidFill>
              <a:srgbClr val="B8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10972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B1F3A"/>
                </a:solidFill>
                <a:latin typeface="Calibri"/>
              </a:rPr>
              <a:t>Google Cloud Platform</a:t>
            </a:r>
            <a:r>
              <a:rPr sz="1100" b="0" i="1">
                <a:solidFill>
                  <a:srgbClr val="6B7380"/>
                </a:solidFill>
                <a:latin typeface="Calibri"/>
              </a:rPr>
              <a:t>    europe-west2 (London)</a:t>
            </a:r>
          </a:p>
        </p:txBody>
      </p:sp>
      <p:sp>
        <p:nvSpPr>
          <p:cNvPr id="6" name="Oval 5"/>
          <p:cNvSpPr/>
          <p:nvPr/>
        </p:nvSpPr>
        <p:spPr>
          <a:xfrm>
            <a:off x="137160" y="1828800"/>
            <a:ext cx="292608" cy="292608"/>
          </a:xfrm>
          <a:prstGeom prst="ellipse">
            <a:avLst/>
          </a:prstGeom>
          <a:solidFill>
            <a:srgbClr val="333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>
            <a:off x="91440" y="2084832"/>
            <a:ext cx="384048" cy="411480"/>
          </a:xfrm>
          <a:prstGeom prst="triangle">
            <a:avLst/>
          </a:prstGeom>
          <a:solidFill>
            <a:srgbClr val="333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228600" y="2514600"/>
            <a:ext cx="10241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33F52"/>
                </a:solidFill>
                <a:latin typeface="Calibri"/>
              </a:rPr>
              <a:t>Client</a:t>
            </a:r>
          </a:p>
          <a:p>
            <a:pPr algn="ctr"/>
            <a:r>
              <a:rPr sz="800" b="0" i="0">
                <a:solidFill>
                  <a:srgbClr val="6B7380"/>
                </a:solidFill>
                <a:latin typeface="Calibri"/>
              </a:rPr>
              <a:t>Ad bidding systems</a:t>
            </a:r>
          </a:p>
        </p:txBody>
      </p:sp>
      <p:sp>
        <p:nvSpPr>
          <p:cNvPr id="9" name="Oval 8"/>
          <p:cNvSpPr/>
          <p:nvPr/>
        </p:nvSpPr>
        <p:spPr>
          <a:xfrm>
            <a:off x="11567160" y="1828800"/>
            <a:ext cx="292608" cy="292608"/>
          </a:xfrm>
          <a:prstGeom prst="ellipse">
            <a:avLst/>
          </a:prstGeom>
          <a:solidFill>
            <a:srgbClr val="333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11521440" y="2084832"/>
            <a:ext cx="384048" cy="411480"/>
          </a:xfrm>
          <a:prstGeom prst="triangle">
            <a:avLst/>
          </a:prstGeom>
          <a:solidFill>
            <a:srgbClr val="333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01400" y="2514600"/>
            <a:ext cx="10241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33F52"/>
                </a:solidFill>
                <a:latin typeface="Calibri"/>
              </a:rPr>
              <a:t>Executive</a:t>
            </a:r>
          </a:p>
          <a:p>
            <a:pPr algn="ctr"/>
            <a:r>
              <a:rPr sz="800" b="0" i="0">
                <a:solidFill>
                  <a:srgbClr val="6B7380"/>
                </a:solidFill>
                <a:latin typeface="Calibri"/>
              </a:rPr>
              <a:t>stakeholders</a:t>
            </a:r>
          </a:p>
        </p:txBody>
      </p:sp>
      <p:sp>
        <p:nvSpPr>
          <p:cNvPr id="12" name="Can 11"/>
          <p:cNvSpPr/>
          <p:nvPr/>
        </p:nvSpPr>
        <p:spPr>
          <a:xfrm>
            <a:off x="182880" y="5212080"/>
            <a:ext cx="365760" cy="457200"/>
          </a:xfrm>
          <a:prstGeom prst="can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-137160" y="571500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33F52"/>
                </a:solidFill>
                <a:latin typeface="Calibri"/>
              </a:rPr>
              <a:t>Sales ledger
data source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1417320"/>
            <a:ext cx="2743200" cy="1508760"/>
          </a:xfrm>
          <a:prstGeom prst="roundRect">
            <a:avLst>
              <a:gd name="adj" fmla="val 12000"/>
            </a:avLst>
          </a:prstGeom>
          <a:solidFill>
            <a:srgbClr val="4E8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Scoring Service  ·  scoring-api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Rust 1.89  ·  Cloud Run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08760" y="2240280"/>
            <a:ext cx="2468880" cy="640080"/>
          </a:xfrm>
          <a:prstGeom prst="roundRect">
            <a:avLst>
              <a:gd name="adj" fmla="val 1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900" b="1" i="0">
                <a:solidFill>
                  <a:srgbClr val="2A5FC3"/>
                </a:solidFill>
                <a:latin typeface="Calibri"/>
              </a:rPr>
              <a:t>Safety guardrails</a:t>
            </a:r>
          </a:p>
          <a:p>
            <a:pPr algn="ctr"/>
            <a:r>
              <a:rPr sz="800" b="0" i="0">
                <a:solidFill>
                  <a:srgbClr val="2A5FC3"/>
                </a:solidFill>
                <a:latin typeface="Calibri"/>
              </a:rPr>
              <a:t>Bounds  ·  clamp  ·  timeouts  ·  anomaly  ·  breaker  ·  kill-switch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14173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Vertex AI Endpoint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XGBoost regressor  ·  rpc-estimator@1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141732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4E8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Dashboard UI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TypeScript / React / nginx  ·  Cloud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0" y="320040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4E8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Bounds Calibration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Rust  ·  Cloud Run job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03320" y="2423160"/>
            <a:ext cx="146304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">
            <a:solidFill>
              <a:srgbClr val="6B7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  <a:r>
              <a:rPr sz="900" b="1" i="0">
                <a:solidFill>
                  <a:srgbClr val="333F52"/>
                </a:solidFill>
                <a:latin typeface="Calibri"/>
              </a:rPr>
              <a:t>Secret Manager / Config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297180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BigQuery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Data warehouse</a:t>
            </a:r>
          </a:p>
          <a:p>
            <a:pPr algn="ctr">
              <a:spcBef>
                <a:spcPts val="600"/>
              </a:spcBef>
            </a:pPr>
            <a:r>
              <a:rPr sz="800" b="0" i="1">
                <a:solidFill>
                  <a:srgbClr val="FFFFFF"/>
                </a:solidFill>
                <a:latin typeface="Calibri"/>
              </a:rPr>
              <a:t>cm360_clicks  ·  sales_ledger</a:t>
            </a:r>
          </a:p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rpc_predictions</a:t>
            </a:r>
          </a:p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predictions_vs_revenue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2468880" cy="777240"/>
          </a:xfrm>
          <a:prstGeom prst="roundRect">
            <a:avLst>
              <a:gd name="adj" fmla="val 12000"/>
            </a:avLst>
          </a:prstGeom>
          <a:solidFill>
            <a:srgbClr val="4E8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Reconciliation Service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Python FastAPI  ·  Cloud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416052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ML Ops Pipeline  ·  ml-pipeline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Python 3.12  ·  Vertex AI Pipelines</a:t>
            </a:r>
          </a:p>
        </p:txBody>
      </p:sp>
      <p:sp>
        <p:nvSpPr>
          <p:cNvPr id="23" name="Can 22"/>
          <p:cNvSpPr/>
          <p:nvPr/>
        </p:nvSpPr>
        <p:spPr>
          <a:xfrm>
            <a:off x="10058400" y="4160520"/>
            <a:ext cx="502920" cy="822960"/>
          </a:xfrm>
          <a:prstGeom prst="can">
            <a:avLst/>
          </a:prstGeom>
          <a:solidFill>
            <a:srgbClr val="6B7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5029200"/>
            <a:ext cx="868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 i="0">
                <a:solidFill>
                  <a:srgbClr val="333F52"/>
                </a:solidFill>
                <a:latin typeface="Calibri"/>
              </a:rPr>
              <a:t>Cloud Storage</a:t>
            </a:r>
          </a:p>
        </p:txBody>
      </p:sp>
      <p:sp>
        <p:nvSpPr>
          <p:cNvPr id="25" name="Hexagon 24"/>
          <p:cNvSpPr/>
          <p:nvPr/>
        </p:nvSpPr>
        <p:spPr>
          <a:xfrm>
            <a:off x="1371600" y="4160520"/>
            <a:ext cx="1371600" cy="411480"/>
          </a:xfrm>
          <a:prstGeom prst="hexagon">
            <a:avLst/>
          </a:prstGeom>
          <a:solidFill>
            <a:srgbClr val="A96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Pub/Sub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581144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333F52"/>
                </a:solidFill>
                <a:latin typeface="Calibri"/>
              </a:rPr>
              <a:t>rpc-clicks-staging</a:t>
            </a:r>
          </a:p>
        </p:txBody>
      </p:sp>
      <p:sp>
        <p:nvSpPr>
          <p:cNvPr id="27" name="Hexagon 26"/>
          <p:cNvSpPr/>
          <p:nvPr/>
        </p:nvSpPr>
        <p:spPr>
          <a:xfrm>
            <a:off x="3017520" y="4160520"/>
            <a:ext cx="1371600" cy="411480"/>
          </a:xfrm>
          <a:prstGeom prst="hexagon">
            <a:avLst/>
          </a:prstGeom>
          <a:solidFill>
            <a:srgbClr val="A96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Pub/Sub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581144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333F52"/>
                </a:solidFill>
                <a:latin typeface="Calibri"/>
              </a:rPr>
              <a:t>rpc-predictions-staging</a:t>
            </a:r>
          </a:p>
        </p:txBody>
      </p:sp>
      <p:sp>
        <p:nvSpPr>
          <p:cNvPr id="29" name="Hexagon 28"/>
          <p:cNvSpPr/>
          <p:nvPr/>
        </p:nvSpPr>
        <p:spPr>
          <a:xfrm>
            <a:off x="4937760" y="4572000"/>
            <a:ext cx="1371600" cy="411480"/>
          </a:xfrm>
          <a:prstGeom prst="hexagon">
            <a:avLst/>
          </a:prstGeom>
          <a:solidFill>
            <a:srgbClr val="A96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Pub/Sub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4992624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333F52"/>
                </a:solidFill>
                <a:latin typeface="Calibri"/>
              </a:rPr>
              <a:t>rpc-anomaly-staging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5074920"/>
            <a:ext cx="2286000" cy="777240"/>
          </a:xfrm>
          <a:prstGeom prst="roundRect">
            <a:avLst>
              <a:gd name="adj" fmla="val 12000"/>
            </a:avLst>
          </a:prstGeom>
          <a:solidFill>
            <a:srgbClr val="4E8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Breaker Automation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Python  ·  Cloud Run / Functions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32520" y="5074920"/>
            <a:ext cx="2468880" cy="777240"/>
          </a:xfrm>
          <a:prstGeom prst="roundRect">
            <a:avLst>
              <a:gd name="adj" fmla="val 12000"/>
            </a:avLst>
          </a:prstGeom>
          <a:solidFill>
            <a:srgbClr val="4E8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Activation Service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Python 3.12  ·  Cloud Run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21440" y="50749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333F52"/>
                </a:solidFill>
                <a:latin typeface="Calibri"/>
              </a:rPr>
              <a:t>→ SA360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40" y="5330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333F52"/>
                </a:solidFill>
                <a:latin typeface="Calibri"/>
              </a:rPr>
              <a:t>→ SSGTM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21440" y="5586984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333F52"/>
                </a:solidFill>
                <a:latin typeface="Calibri"/>
              </a:rPr>
              <a:t>→ OCI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92040" y="5989320"/>
            <a:ext cx="128016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800" b="1" i="0">
                <a:solidFill>
                  <a:srgbClr val="333F52"/>
                </a:solidFill>
                <a:latin typeface="Calibri"/>
              </a:rPr>
              <a:t>GitHub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172200" y="6126480"/>
            <a:ext cx="45720" cy="0"/>
          </a:xfrm>
          <a:prstGeom prst="line">
            <a:avLst/>
          </a:prstGeom>
          <a:ln w="9525">
            <a:solidFill>
              <a:srgbClr val="6B7380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217920" y="5989320"/>
            <a:ext cx="128016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800" b="1" i="0">
                <a:solidFill>
                  <a:srgbClr val="333F52"/>
                </a:solidFill>
                <a:latin typeface="Calibri"/>
              </a:rPr>
              <a:t>WIF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498080" y="6126480"/>
            <a:ext cx="45720" cy="0"/>
          </a:xfrm>
          <a:prstGeom prst="line">
            <a:avLst/>
          </a:prstGeom>
          <a:ln w="9525">
            <a:solidFill>
              <a:srgbClr val="6B7380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543800" y="5989320"/>
            <a:ext cx="128016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800" b="1" i="0">
                <a:solidFill>
                  <a:srgbClr val="333F52"/>
                </a:solidFill>
                <a:latin typeface="Calibri"/>
              </a:rPr>
              <a:t>Cloud Build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823960" y="6126480"/>
            <a:ext cx="45720" cy="0"/>
          </a:xfrm>
          <a:prstGeom prst="line">
            <a:avLst/>
          </a:prstGeom>
          <a:ln w="9525">
            <a:solidFill>
              <a:srgbClr val="6B7380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869680" y="5989320"/>
            <a:ext cx="128016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800" b="1" i="0">
                <a:solidFill>
                  <a:srgbClr val="333F52"/>
                </a:solidFill>
                <a:latin typeface="Calibri"/>
              </a:rPr>
              <a:t>Artifact Registry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9840" y="6126480"/>
            <a:ext cx="45720" cy="0"/>
          </a:xfrm>
          <a:prstGeom prst="line">
            <a:avLst/>
          </a:prstGeom>
          <a:ln w="9525">
            <a:solidFill>
              <a:srgbClr val="6B7380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10195560" y="5989320"/>
            <a:ext cx="128016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6350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800" b="1" i="0">
                <a:solidFill>
                  <a:srgbClr val="333F52"/>
                </a:solidFill>
                <a:latin typeface="Calibri"/>
              </a:rPr>
              <a:t>Cloud Run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2040" y="5760720"/>
            <a:ext cx="1828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 i="1">
                <a:solidFill>
                  <a:srgbClr val="6B7380"/>
                </a:solidFill>
                <a:latin typeface="Calibri"/>
              </a:rPr>
              <a:t>Continuous delivery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1993392"/>
            <a:ext cx="685800" cy="0"/>
          </a:xfrm>
          <a:prstGeom prst="line">
            <a:avLst/>
          </a:prstGeom>
          <a:ln w="19050">
            <a:solidFill>
              <a:srgbClr val="5F6B7C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02920" y="1691640"/>
            <a:ext cx="96012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800" b="0" i="1">
                <a:solidFill>
                  <a:srgbClr val="6B7380"/>
                </a:solidFill>
                <a:latin typeface="Calibri"/>
              </a:rPr>
              <a:t>HTTPS click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114800" y="1691640"/>
            <a:ext cx="457200" cy="0"/>
          </a:xfrm>
          <a:prstGeom prst="line">
            <a:avLst/>
          </a:prstGeom>
          <a:ln w="19050">
            <a:solidFill>
              <a:srgbClr val="5F6B7C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114800" y="1481328"/>
            <a:ext cx="4572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6B7380"/>
                </a:solidFill>
                <a:latin typeface="Calibri"/>
              </a:rPr>
              <a:t>predict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4114800" y="2057400"/>
            <a:ext cx="457200" cy="0"/>
          </a:xfrm>
          <a:prstGeom prst="line">
            <a:avLst/>
          </a:prstGeom>
          <a:ln w="19050">
            <a:solidFill>
              <a:srgbClr val="E87B1E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14800" y="2084831"/>
            <a:ext cx="4572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E87B1E"/>
                </a:solidFill>
                <a:latin typeface="Calibri"/>
              </a:rPr>
              <a:t>rpc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200400" y="2926080"/>
            <a:ext cx="502920" cy="1234440"/>
          </a:xfrm>
          <a:prstGeom prst="line">
            <a:avLst/>
          </a:prstGeom>
          <a:ln w="15875">
            <a:solidFill>
              <a:srgbClr val="E87B1E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160520" y="4343400"/>
            <a:ext cx="868680" cy="27432"/>
          </a:xfrm>
          <a:prstGeom prst="line">
            <a:avLst/>
          </a:prstGeom>
          <a:ln w="15875">
            <a:solidFill>
              <a:srgbClr val="E87B1E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114800" y="2697480"/>
            <a:ext cx="1371600" cy="1874520"/>
          </a:xfrm>
          <a:prstGeom prst="line">
            <a:avLst/>
          </a:prstGeom>
          <a:ln w="12700">
            <a:solidFill>
              <a:srgbClr val="E87B1E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85800" y="2148840"/>
            <a:ext cx="1143000" cy="2011680"/>
          </a:xfrm>
          <a:prstGeom prst="line">
            <a:avLst/>
          </a:prstGeom>
          <a:ln w="12700">
            <a:solidFill>
              <a:srgbClr val="A96BDB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057400" y="3657600"/>
            <a:ext cx="2514600" cy="914400"/>
          </a:xfrm>
          <a:prstGeom prst="line">
            <a:avLst/>
          </a:prstGeom>
          <a:ln w="12700">
            <a:solidFill>
              <a:srgbClr val="A96BDB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48640" y="4160520"/>
            <a:ext cx="4023360" cy="1280160"/>
          </a:xfrm>
          <a:prstGeom prst="line">
            <a:avLst/>
          </a:prstGeom>
          <a:ln w="12700">
            <a:solidFill>
              <a:srgbClr val="E87B1E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858000" y="4023360"/>
            <a:ext cx="914400" cy="137160"/>
          </a:xfrm>
          <a:prstGeom prst="line">
            <a:avLst/>
          </a:prstGeom>
          <a:ln w="15875">
            <a:solidFill>
              <a:srgbClr val="5F6B7C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903720" y="3822191"/>
            <a:ext cx="9144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6B7380"/>
                </a:solidFill>
                <a:latin typeface="Calibri"/>
              </a:rPr>
              <a:t>training data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692640" y="4572000"/>
            <a:ext cx="365760" cy="0"/>
          </a:xfrm>
          <a:prstGeom prst="line">
            <a:avLst/>
          </a:prstGeom>
          <a:ln w="12700">
            <a:solidFill>
              <a:srgbClr val="5F6B7C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 flipV="1">
            <a:off x="5715000" y="2331720"/>
            <a:ext cx="2514600" cy="1828800"/>
          </a:xfrm>
          <a:prstGeom prst="line">
            <a:avLst/>
          </a:prstGeom>
          <a:ln w="12700">
            <a:solidFill>
              <a:srgbClr val="5F6B7C"/>
            </a:solidFill>
            <a:prstDash val="dash"/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498079" y="3200400"/>
            <a:ext cx="1463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6B7380"/>
                </a:solidFill>
                <a:latin typeface="Calibri"/>
              </a:rPr>
              <a:t>deploy / retrain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858000" y="3200400"/>
            <a:ext cx="1874520" cy="0"/>
          </a:xfrm>
          <a:prstGeom prst="line">
            <a:avLst/>
          </a:prstGeom>
          <a:ln w="15875">
            <a:solidFill>
              <a:srgbClr val="E87B1E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949440" y="2944368"/>
            <a:ext cx="178308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E87B1E"/>
                </a:solidFill>
                <a:latin typeface="Calibri"/>
              </a:rPr>
              <a:t>read predictions_vs_revenue</a:t>
            </a:r>
          </a:p>
        </p:txBody>
      </p:sp>
      <p:cxnSp>
        <p:nvCxnSpPr>
          <p:cNvPr id="65" name="Connector 64"/>
          <p:cNvCxnSpPr/>
          <p:nvPr/>
        </p:nvCxnSpPr>
        <p:spPr>
          <a:xfrm flipV="1">
            <a:off x="9966960" y="2331720"/>
            <a:ext cx="0" cy="457200"/>
          </a:xfrm>
          <a:prstGeom prst="line">
            <a:avLst/>
          </a:prstGeom>
          <a:ln w="15875">
            <a:solidFill>
              <a:srgbClr val="5F6B7C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0104120" y="2423160"/>
            <a:ext cx="109728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6B7380"/>
                </a:solidFill>
                <a:latin typeface="Calibri"/>
              </a:rPr>
              <a:t>HTTPS /api</a:t>
            </a:r>
          </a:p>
        </p:txBody>
      </p:sp>
      <p:cxnSp>
        <p:nvCxnSpPr>
          <p:cNvPr id="67" name="Connector 66"/>
          <p:cNvCxnSpPr/>
          <p:nvPr/>
        </p:nvCxnSpPr>
        <p:spPr>
          <a:xfrm flipH="1">
            <a:off x="11201400" y="1874519"/>
            <a:ext cx="365760" cy="0"/>
          </a:xfrm>
          <a:prstGeom prst="line">
            <a:avLst/>
          </a:prstGeom>
          <a:ln w="15875">
            <a:solidFill>
              <a:srgbClr val="5F6B7C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 flipV="1">
            <a:off x="4434840" y="2926080"/>
            <a:ext cx="137160" cy="2423160"/>
          </a:xfrm>
          <a:prstGeom prst="line">
            <a:avLst/>
          </a:prstGeom>
          <a:ln w="12700">
            <a:solidFill>
              <a:srgbClr val="5F6B7C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4114800" y="2423160"/>
            <a:ext cx="320040" cy="0"/>
          </a:xfrm>
          <a:prstGeom prst="line">
            <a:avLst/>
          </a:prstGeom>
          <a:ln w="12700">
            <a:solidFill>
              <a:srgbClr val="5F6B7C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611880" y="4754880"/>
            <a:ext cx="18288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6B7380"/>
                </a:solidFill>
                <a:latin typeface="Calibri"/>
              </a:rPr>
              <a:t>flip kill-switch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1201400" y="5458968"/>
            <a:ext cx="320040" cy="0"/>
          </a:xfrm>
          <a:prstGeom prst="line">
            <a:avLst/>
          </a:prstGeom>
          <a:ln w="12700">
            <a:solidFill>
              <a:srgbClr val="5F6B7C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68880" y="2926080"/>
            <a:ext cx="0" cy="274320"/>
          </a:xfrm>
          <a:prstGeom prst="line">
            <a:avLst/>
          </a:prstGeom>
          <a:ln w="12700">
            <a:solidFill>
              <a:srgbClr val="5F6B7C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2514600" y="2971800"/>
            <a:ext cx="13716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00" b="0" i="1">
                <a:solidFill>
                  <a:srgbClr val="6B7380"/>
                </a:solidFill>
                <a:latin typeface="Calibri"/>
              </a:rPr>
              <a:t>segment bounds</a:t>
            </a:r>
          </a:p>
        </p:txBody>
      </p:sp>
      <p:sp>
        <p:nvSpPr>
          <p:cNvPr id="74" name="Oval 73"/>
          <p:cNvSpPr/>
          <p:nvPr/>
        </p:nvSpPr>
        <p:spPr>
          <a:xfrm>
            <a:off x="457200" y="6373368"/>
            <a:ext cx="109728" cy="109728"/>
          </a:xfrm>
          <a:prstGeom prst="ellipse">
            <a:avLst/>
          </a:prstGeom>
          <a:solidFill>
            <a:srgbClr val="4E8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1792" y="6336792"/>
            <a:ext cx="1463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333F52"/>
                </a:solidFill>
                <a:latin typeface="Calibri"/>
              </a:rPr>
              <a:t>Service</a:t>
            </a:r>
          </a:p>
        </p:txBody>
      </p:sp>
      <p:sp>
        <p:nvSpPr>
          <p:cNvPr id="76" name="Oval 75"/>
          <p:cNvSpPr/>
          <p:nvPr/>
        </p:nvSpPr>
        <p:spPr>
          <a:xfrm>
            <a:off x="1874520" y="6373368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039112" y="6336792"/>
            <a:ext cx="1463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333F52"/>
                </a:solidFill>
                <a:latin typeface="Calibri"/>
              </a:rPr>
              <a:t>ML/AI runtime</a:t>
            </a:r>
          </a:p>
        </p:txBody>
      </p:sp>
      <p:sp>
        <p:nvSpPr>
          <p:cNvPr id="78" name="Oval 77"/>
          <p:cNvSpPr/>
          <p:nvPr/>
        </p:nvSpPr>
        <p:spPr>
          <a:xfrm>
            <a:off x="3291840" y="6373368"/>
            <a:ext cx="109728" cy="109728"/>
          </a:xfrm>
          <a:prstGeom prst="ellipse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56432" y="6336792"/>
            <a:ext cx="1463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333F52"/>
                </a:solidFill>
                <a:latin typeface="Calibri"/>
              </a:rPr>
              <a:t>ML pipeline</a:t>
            </a:r>
          </a:p>
        </p:txBody>
      </p:sp>
      <p:sp>
        <p:nvSpPr>
          <p:cNvPr id="80" name="Oval 79"/>
          <p:cNvSpPr/>
          <p:nvPr/>
        </p:nvSpPr>
        <p:spPr>
          <a:xfrm>
            <a:off x="4709160" y="6373368"/>
            <a:ext cx="109728" cy="109728"/>
          </a:xfrm>
          <a:prstGeom prst="ellipse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873752" y="6336792"/>
            <a:ext cx="1463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333F52"/>
                </a:solidFill>
                <a:latin typeface="Calibri"/>
              </a:rPr>
              <a:t>Data warehouse</a:t>
            </a:r>
          </a:p>
        </p:txBody>
      </p:sp>
      <p:sp>
        <p:nvSpPr>
          <p:cNvPr id="82" name="Oval 81"/>
          <p:cNvSpPr/>
          <p:nvPr/>
        </p:nvSpPr>
        <p:spPr>
          <a:xfrm>
            <a:off x="6126480" y="6373368"/>
            <a:ext cx="109728" cy="109728"/>
          </a:xfrm>
          <a:prstGeom prst="ellipse">
            <a:avLst/>
          </a:prstGeom>
          <a:solidFill>
            <a:srgbClr val="A96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91072" y="6336792"/>
            <a:ext cx="1463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333F52"/>
                </a:solidFill>
                <a:latin typeface="Calibri"/>
              </a:rPr>
              <a:t>Pub/Sub</a:t>
            </a:r>
          </a:p>
        </p:txBody>
      </p:sp>
      <p:sp>
        <p:nvSpPr>
          <p:cNvPr id="84" name="Oval 83"/>
          <p:cNvSpPr/>
          <p:nvPr/>
        </p:nvSpPr>
        <p:spPr>
          <a:xfrm>
            <a:off x="7543800" y="6373368"/>
            <a:ext cx="109728" cy="109728"/>
          </a:xfrm>
          <a:prstGeom prst="ellipse">
            <a:avLst/>
          </a:prstGeom>
          <a:solidFill>
            <a:srgbClr val="E87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708392" y="6336792"/>
            <a:ext cx="1463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333F52"/>
                </a:solidFill>
                <a:latin typeface="Calibri"/>
              </a:rPr>
              <a:t>Data flow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FIVE MINUTES, THREE SCREENS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Live demo — what you will see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1.  The reconciliation dashboard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open the live dashboard. It shows the last seven days of predictions paired with realized revenue from the sales ledger — predicted RPC, realized RPC, residual, and which model branch served each click.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2.  A prediction in flight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send a sample click context to the live scoring API and receive an RPC estimate, end-to-end, in under a second. The same input is then sent to the explain path to show per-feature attributions.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3.  The safety net in action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send a deliberately malformed payload. The service rejects it cleanly, the circuit-breaker counters tick, and the request never reaches the model. No degradation visible to clean traffic.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Dashboard  ·  https://dashboard-staging-794974391956.europe-west2.run.app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Scoring API  ·  https://scoring-api-staging-794974391956.europe-west2.run.app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LOAD TEST, LIVE STAGING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Measured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965960" cy="73152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561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Median (p50) /v1/score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80" y="1234440"/>
            <a:ext cx="1965960" cy="73152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762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p95 /v1/score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6320" y="1234440"/>
            <a:ext cx="1965960" cy="73152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993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p99 /v1/score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1234440"/>
            <a:ext cx="1965960" cy="73152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1F8A4F"/>
                </a:solidFill>
                <a:latin typeface="Calibri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Success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8346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Headroom against the SLO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Staging p95 latency budget is 1500 ms — observed 762 ms leaves roughly a 2× margin before alerts fire.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Zero errors at the tested rate; prior runs showed the service recovers cleanly under autoscaling load.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Production sizing has been pre-computed from these numbers — a larger Vertex machine and a minimum of two replicas keep the same headroom under client traffic.</a:t>
            </a:r>
          </a:p>
          <a:p>
            <a:pPr>
              <a:lnSpc>
                <a:spcPct val="120000"/>
              </a:lnSpc>
            </a:pPr>
            <a:r>
              <a:rPr sz="1100" b="0" i="1">
                <a:solidFill>
                  <a:srgbClr val="6B7380"/>
                </a:solidFill>
                <a:latin typeface="Calibri"/>
              </a:rPr>
              <a:t>Source: ops/perf/20260428T094507Z__v1_score.json  ·  tool: oha, 30s @ c=10  ·  europe-west2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RUNS UNDERNEATH THE DEMO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Production-grade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Reliability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Circuit-breaker on the upstream model — fails fast and recovers automatically.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Configurable timeouts for model and warehouse calls — no request hangs indefinitely.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Negative-prediction clamp and input validation at the edge.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Anomaly window on null-rates flips the breaker before bad data reaches finance.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4300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Operability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Every change ships through GitHub Actions on tag push, gated by tests, type checks, and security scan.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Workload Identity Federation — no service-account keys to manage or rotate.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Cloud Monitoring alerts on latency, error rate, breaker trips, and anomaly state.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Runbooks committed for breaker reset, model rollback, secret rotation, and cost scale-down.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BUILT TO PASS REVIEW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Security and compliance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Identity and access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Per-service service accounts; least-privilege IAM encoded in Terraform — every grant is reviewable in git.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No long-lived secrets in CI: GitHub OIDC federates into Google Cloud via Workload Identity.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Secrets in Secret Manager with versioning; rotation is a runbooked one-liner.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Data protection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All data resident in europe-west2 (London). No US-region replicas.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Google-managed encryption keys by default; customer-managed keys (CMEK) available on request.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Predictions are persisted to BigQuery with the same access controls as your existing analytics estate.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Supply chain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Container images pinned by digest; dependency scanning runs on every PR; no third-party model weights are downloaded at runtime.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FROM YOUR LEDGER TO A LIVE PREDICTION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Data and model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Ingestion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Real click events arrive via Pub/Sub or push-down query into BigQuery — schema and freshness are agreed in the data contract.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Sales-ledger data is loaded via scheduled query or transfer service from the client source of truth.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Training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Model is trained in a Vertex AI pipeline run from the same monorepo — fully reproducible from a commit.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Each model version is registered in the Vertex Model Registry; we never deploy an unversioned artifact.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Release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New versions deploy behind a traffic split — 10% canary, then ramp — with automatic rollback if breaker trip rates spike.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Drift monitoring on inputs (PSI) and on outputs vs the reconciled ledger keeps the model honest in production.</a:t>
            </a:r>
          </a:p>
          <a:p>
            <a:pPr>
              <a:lnSpc>
                <a:spcPct val="120000"/>
              </a:lnSpc>
            </a:pPr>
            <a:r>
              <a:rPr sz="1100" b="0" i="1">
                <a:solidFill>
                  <a:srgbClr val="6B7380"/>
                </a:solidFill>
                <a:latin typeface="Calibri"/>
              </a:rPr>
              <a:t>Today's demo runs against a model trained on a synthetic dataset that mirrors the agreed schema. Retraining on real data is the first work item once the data contract is signed.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RUN-BOOK READY, ON DAY ONE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Operational readiness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Service-level objectives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Availability target 99.5% on /v1/score; latency SLO sized from the live load profile.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Error-budget policy: breaches automatically open an incident channel.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Observability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Cloud Logging, Cloud Trace, and Cloud Monitoring out of the box — one pane of glass for the on-call engineer.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Four alert policies pre-wired: latency, error rate, breaker trips, anomaly state.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Runbooks committed to the repository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Reset the breaker · Roll back a model version · Scale Vertex to zero for cost · Rotate a secret · Migrate the BigQuery schema.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Rollback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Vertex traffic-split rollback to the previous model version is a single command; Cloud Run revisions are pinned and revertible.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FROM HERE TO PRODUCTION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Delivery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840480" cy="502920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1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Staging hardened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1F8A4F"/>
                </a:solidFill>
                <a:latin typeface="Calibri"/>
              </a:rPr>
              <a:t>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Real explain path live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Sliding anomaly window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IaC for IAM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Load profile captured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1188720"/>
            <a:ext cx="3840480" cy="50292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2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Real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D97306"/>
                </a:solidFill>
                <a:latin typeface="Calibri"/>
              </a:rPr>
              <a:t>IN FLIGHT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Data contract sign-off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Ingestion of client feeds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Retrain on real data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Canary 10% → 100%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41080" y="1188720"/>
            <a:ext cx="3840480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3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0F6E7A"/>
                </a:solidFill>
                <a:latin typeface="Calibri"/>
              </a:rPr>
              <a:t>READY TO 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Prod Terraform workspace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Prod CD with approvals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Right-sized Vertex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Sign-off and handover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98348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6B7380"/>
                </a:solidFill>
                <a:latin typeface="Calibri"/>
              </a:rPr>
              <a:t>Indicative timeline: ~8 weeks from kickoff, gated on data access. Each phase ends in a working, demoable artefact.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NEXT STEPS TO UNLOCK VALUE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What we need from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Three decisions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Sign off the data contract — schema, freshness, and PII handling for click and sales-ledger feeds.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Nominate one data owner and one on-call engineer on your side for joint working sessions.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Confirm production GCP project (or authorise a prod-isolated namespace in the existing one).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Two artefacts we will share this week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short data-contract template ready for legal and engineering review.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Read-only access to the live staging environment for your team to probe.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What you get in eight weeks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production service, on your data, with your on-call team in the cockpit and a signed handover.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089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 i="0">
                <a:solidFill>
                  <a:srgbClr val="F4F6FA"/>
                </a:solidFill>
                <a:latin typeface="Calibri"/>
              </a:rPr>
              <a:t>Predictive RPC Estimator  ·  Live demo  · 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D97306"/>
                </a:solidFill>
                <a:latin typeface="Calibri"/>
              </a:rPr>
              <a:t>Live dashboard  ·  https://dashboard-staging-794974391956.europe-west2.run.app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