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0"/>
            <a:ext cx="12191695" cy="73152"/>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8229600" cy="365760"/>
          </a:xfrm>
          <a:prstGeom prst="rect">
            <a:avLst/>
          </a:prstGeom>
          <a:noFill/>
        </p:spPr>
        <p:txBody>
          <a:bodyPr wrap="none">
            <a:spAutoFit/>
          </a:bodyPr>
          <a:lstStyle/>
          <a:p>
            <a:r>
              <a:rPr sz="1200" b="1" i="0">
                <a:solidFill>
                  <a:srgbClr val="D97306"/>
                </a:solidFill>
                <a:latin typeface="Calibri"/>
              </a:rPr>
              <a:t>PREDICTIVE REVENUE INTELLIGENCE</a:t>
            </a:r>
          </a:p>
        </p:txBody>
      </p:sp>
      <p:sp>
        <p:nvSpPr>
          <p:cNvPr id="5" name="TextBox 4"/>
          <p:cNvSpPr txBox="1"/>
          <p:nvPr/>
        </p:nvSpPr>
        <p:spPr>
          <a:xfrm>
            <a:off x="640080" y="1920240"/>
            <a:ext cx="8229600" cy="1280160"/>
          </a:xfrm>
          <a:prstGeom prst="rect">
            <a:avLst/>
          </a:prstGeom>
          <a:noFill/>
        </p:spPr>
        <p:txBody>
          <a:bodyPr wrap="square">
            <a:spAutoFit/>
          </a:bodyPr>
          <a:lstStyle/>
          <a:p>
            <a:r>
              <a:rPr sz="4400" b="1" i="0">
                <a:solidFill>
                  <a:srgbClr val="FFFFFF"/>
                </a:solidFill>
                <a:latin typeface="Calibri"/>
              </a:rPr>
              <a:t>Predictive RPC Estimator</a:t>
            </a:r>
          </a:p>
          <a:p>
            <a:r>
              <a:rPr sz="2000" b="0" i="0">
                <a:solidFill>
                  <a:srgbClr val="F4F6FA"/>
                </a:solidFill>
                <a:latin typeface="Calibri"/>
              </a:rPr>
              <a:t>Real-time revenue-per-click forecasting on Google Cloud</a:t>
            </a:r>
          </a:p>
        </p:txBody>
      </p:sp>
      <p:sp>
        <p:nvSpPr>
          <p:cNvPr id="6" name="TextBox 5"/>
          <p:cNvSpPr txBox="1"/>
          <p:nvPr/>
        </p:nvSpPr>
        <p:spPr>
          <a:xfrm>
            <a:off x="640080" y="4389120"/>
            <a:ext cx="8229600" cy="1828800"/>
          </a:xfrm>
          <a:prstGeom prst="rect">
            <a:avLst/>
          </a:prstGeom>
          <a:noFill/>
        </p:spPr>
        <p:txBody>
          <a:bodyPr wrap="square">
            <a:spAutoFit/>
          </a:bodyPr>
          <a:lstStyle/>
          <a:p/>
          <a:p>
            <a:pPr>
              <a:lnSpc>
                <a:spcPct val="130000"/>
              </a:lnSpc>
            </a:pPr>
            <a:r>
              <a:rPr sz="1200" b="1" i="0">
                <a:solidFill>
                  <a:srgbClr val="D97306"/>
                </a:solidFill>
                <a:latin typeface="Calibri"/>
              </a:rPr>
              <a:t>Solution demo    </a:t>
            </a:r>
            <a:r>
              <a:rPr sz="1400" b="0" i="0">
                <a:solidFill>
                  <a:srgbClr val="FFFFFF"/>
                </a:solidFill>
                <a:latin typeface="Calibri"/>
              </a:rPr>
              <a:t>Live staging environment</a:t>
            </a:r>
          </a:p>
          <a:p>
            <a:pPr>
              <a:lnSpc>
                <a:spcPct val="130000"/>
              </a:lnSpc>
            </a:pPr>
            <a:r>
              <a:rPr sz="1200" b="1" i="0">
                <a:solidFill>
                  <a:srgbClr val="D97306"/>
                </a:solidFill>
                <a:latin typeface="Calibri"/>
              </a:rPr>
              <a:t>Audience    </a:t>
            </a:r>
            <a:r>
              <a:rPr sz="1400" b="0" i="0">
                <a:solidFill>
                  <a:srgbClr val="FFFFFF"/>
                </a:solidFill>
                <a:latin typeface="Calibri"/>
              </a:rPr>
              <a:t>Client executive and technical stakeholders</a:t>
            </a:r>
          </a:p>
          <a:p>
            <a:pPr>
              <a:lnSpc>
                <a:spcPct val="130000"/>
              </a:lnSpc>
            </a:pPr>
            <a:r>
              <a:rPr sz="1200" b="1" i="0">
                <a:solidFill>
                  <a:srgbClr val="D97306"/>
                </a:solidFill>
                <a:latin typeface="Calibri"/>
              </a:rPr>
              <a:t>Date    </a:t>
            </a:r>
            <a:r>
              <a:rPr sz="1400" b="0" i="0">
                <a:solidFill>
                  <a:srgbClr val="FFFFFF"/>
                </a:solidFill>
                <a:latin typeface="Calibri"/>
              </a:rPr>
              <a:t>2026-05-11</a:t>
            </a:r>
          </a:p>
          <a:p>
            <a:pPr>
              <a:lnSpc>
                <a:spcPct val="150000"/>
              </a:lnSpc>
            </a:pPr>
            <a:r>
              <a:rPr sz="800" b="0" i="0">
                <a:solidFill>
                  <a:srgbClr val="333F52"/>
                </a:solidFill>
                <a:latin typeface="Calibri"/>
              </a:rPr>
              <a:t> </a:t>
            </a:r>
          </a:p>
          <a:p>
            <a:r>
              <a:rPr sz="1100" b="1" i="0">
                <a:solidFill>
                  <a:srgbClr val="D97306"/>
                </a:solidFill>
                <a:latin typeface="Calibri"/>
              </a:rPr>
              <a:t>Live dashboard:  </a:t>
            </a:r>
            <a:r>
              <a:rPr sz="1100" b="0" i="0">
                <a:solidFill>
                  <a:srgbClr val="F4F6FA"/>
                </a:solidFill>
                <a:latin typeface="Calibri"/>
              </a:rPr>
              <a:t>https://dashboard-staging-794974391956.europe-west2.run.app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WHERE WE ARE TODAY</a:t>
            </a:r>
          </a:p>
          <a:p>
            <a:r>
              <a:rPr sz="2400" b="1" i="0">
                <a:solidFill>
                  <a:srgbClr val="FFFFFF"/>
                </a:solidFill>
                <a:latin typeface="Calibri"/>
              </a:rPr>
              <a:t>Executive summary</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1094415" cy="5303520"/>
          </a:xfrm>
          <a:prstGeom prst="rect">
            <a:avLst/>
          </a:prstGeom>
          <a:noFill/>
        </p:spPr>
        <p:txBody>
          <a:bodyPr wrap="square">
            <a:spAutoFit/>
          </a:bodyPr>
          <a:lstStyle/>
          <a:p>
            <a:pPr>
              <a:lnSpc>
                <a:spcPct val="120000"/>
              </a:lnSpc>
              <a:spcAft>
                <a:spcPts val="600"/>
              </a:spcAft>
            </a:pPr>
            <a:r>
              <a:rPr sz="1800" b="1" i="0">
                <a:solidFill>
                  <a:srgbClr val="0F6E7A"/>
                </a:solidFill>
                <a:latin typeface="Calibri"/>
              </a:rPr>
              <a:t>A production-grade revenue forecasting service is operational.</a:t>
            </a:r>
          </a:p>
          <a:p>
            <a:pPr>
              <a:lnSpc>
                <a:spcPct val="120000"/>
              </a:lnSpc>
              <a:spcAft>
                <a:spcPts val="600"/>
              </a:spcAft>
            </a:pPr>
            <a:r>
              <a:rPr sz="1400" b="0" i="0">
                <a:solidFill>
                  <a:srgbClr val="333F52"/>
                </a:solidFill>
                <a:latin typeface="Calibri"/>
              </a:rPr>
              <a:t>We have built and deployed an end-to-end machine-learning service that predicts revenue-per-click in real time, with the engineering controls required to run it safely in production. You can run the live model yourself in today's demo.</a:t>
            </a:r>
          </a:p>
          <a:p>
            <a:pPr>
              <a:lnSpc>
                <a:spcPct val="120000"/>
              </a:lnSpc>
              <a:spcAft>
                <a:spcPts val="600"/>
              </a:spcAft>
            </a:pPr>
            <a:r>
              <a:rPr sz="1800" b="1" i="0">
                <a:solidFill>
                  <a:srgbClr val="0F6E7A"/>
                </a:solidFill>
                <a:latin typeface="Calibri"/>
              </a:rPr>
              <a:t>Three things to take away today</a:t>
            </a:r>
          </a:p>
          <a:p>
            <a:pPr>
              <a:lnSpc>
                <a:spcPct val="120000"/>
              </a:lnSpc>
              <a:spcAft>
                <a:spcPts val="300"/>
              </a:spcAft>
            </a:pPr>
            <a:r>
              <a:rPr sz="1400" b="1" i="0">
                <a:solidFill>
                  <a:srgbClr val="D97306"/>
                </a:solidFill>
                <a:latin typeface="Calibri"/>
              </a:rPr>
              <a:t>•  </a:t>
            </a:r>
            <a:r>
              <a:rPr sz="1400" b="0" i="0">
                <a:solidFill>
                  <a:srgbClr val="333F52"/>
                </a:solidFill>
                <a:latin typeface="Calibri"/>
              </a:rPr>
              <a:t>Working software you can touch — a browser-based dashboard fronts the live model on Google Cloud, with measured p95 latency under one second.</a:t>
            </a:r>
          </a:p>
          <a:p>
            <a:pPr>
              <a:lnSpc>
                <a:spcPct val="120000"/>
              </a:lnSpc>
              <a:spcAft>
                <a:spcPts val="300"/>
              </a:spcAft>
            </a:pPr>
            <a:r>
              <a:rPr sz="1400" b="1" i="0">
                <a:solidFill>
                  <a:srgbClr val="D97306"/>
                </a:solidFill>
                <a:latin typeface="Calibri"/>
              </a:rPr>
              <a:t>•  </a:t>
            </a:r>
            <a:r>
              <a:rPr sz="1400" b="0" i="0">
                <a:solidFill>
                  <a:srgbClr val="333F52"/>
                </a:solidFill>
                <a:latin typeface="Calibri"/>
              </a:rPr>
              <a:t>Explainable by default — every prediction returns per-feature attributions, rendered alongside the price so finance and compliance can audit any decision.</a:t>
            </a:r>
          </a:p>
          <a:p>
            <a:pPr>
              <a:lnSpc>
                <a:spcPct val="120000"/>
              </a:lnSpc>
              <a:spcAft>
                <a:spcPts val="300"/>
              </a:spcAft>
            </a:pPr>
            <a:r>
              <a:rPr sz="1400" b="1" i="0">
                <a:solidFill>
                  <a:srgbClr val="D97306"/>
                </a:solidFill>
                <a:latin typeface="Calibri"/>
              </a:rPr>
              <a:t>•  </a:t>
            </a:r>
            <a:r>
              <a:rPr sz="1400" b="0" i="0">
                <a:solidFill>
                  <a:srgbClr val="333F52"/>
                </a:solidFill>
                <a:latin typeface="Calibri"/>
              </a:rPr>
              <a:t>Production engineering — circuit breakers, drift monitoring, alerting, runbooks, and a tested rollback path are all in place; a clear path to your real data follows in eight weeks.</a:t>
            </a:r>
          </a:p>
        </p:txBody>
      </p:sp>
      <p:sp>
        <p:nvSpPr>
          <p:cNvPr id="5" name="Rectangle 4"/>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6" name="TextBox 5"/>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WHY THIS MATTERS</a:t>
            </a:r>
          </a:p>
          <a:p>
            <a:r>
              <a:rPr sz="2400" b="1" i="0">
                <a:solidFill>
                  <a:srgbClr val="FFFFFF"/>
                </a:solidFill>
                <a:latin typeface="Calibri"/>
              </a:rPr>
              <a:t>The opportunity</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1094415" cy="5303520"/>
          </a:xfrm>
          <a:prstGeom prst="rect">
            <a:avLst/>
          </a:prstGeom>
          <a:noFill/>
        </p:spPr>
        <p:txBody>
          <a:bodyPr wrap="square">
            <a:spAutoFit/>
          </a:bodyPr>
          <a:lstStyle/>
          <a:p>
            <a:pPr>
              <a:lnSpc>
                <a:spcPct val="120000"/>
              </a:lnSpc>
              <a:spcAft>
                <a:spcPts val="600"/>
              </a:spcAft>
            </a:pPr>
            <a:r>
              <a:rPr sz="1800" b="1" i="0">
                <a:solidFill>
                  <a:srgbClr val="0F6E7A"/>
                </a:solidFill>
                <a:latin typeface="Calibri"/>
              </a:rPr>
              <a:t>Bidding and budget decisions today rely on lagging signals.</a:t>
            </a:r>
          </a:p>
          <a:p>
            <a:pPr>
              <a:lnSpc>
                <a:spcPct val="120000"/>
              </a:lnSpc>
              <a:spcAft>
                <a:spcPts val="600"/>
              </a:spcAft>
            </a:pPr>
            <a:r>
              <a:rPr sz="1400" b="0" i="0">
                <a:solidFill>
                  <a:srgbClr val="333F52"/>
                </a:solidFill>
                <a:latin typeface="Calibri"/>
              </a:rPr>
              <a:t>Revenue per click is reconciled days after the fact, from a sales ledger that lives apart from the ad platforms making spend decisions. By the time the numbers settle, the budget has already been committed.</a:t>
            </a:r>
          </a:p>
          <a:p>
            <a:pPr>
              <a:lnSpc>
                <a:spcPct val="120000"/>
              </a:lnSpc>
              <a:spcAft>
                <a:spcPts val="600"/>
              </a:spcAft>
            </a:pPr>
            <a:r>
              <a:rPr sz="1800" b="1" i="0">
                <a:solidFill>
                  <a:srgbClr val="0F6E7A"/>
                </a:solidFill>
                <a:latin typeface="Calibri"/>
              </a:rPr>
              <a:t>What a predictive RPC unlocks</a:t>
            </a:r>
          </a:p>
          <a:p>
            <a:pPr>
              <a:lnSpc>
                <a:spcPct val="120000"/>
              </a:lnSpc>
              <a:spcAft>
                <a:spcPts val="300"/>
              </a:spcAft>
            </a:pPr>
            <a:r>
              <a:rPr sz="1400" b="1" i="0">
                <a:solidFill>
                  <a:srgbClr val="D97306"/>
                </a:solidFill>
                <a:latin typeface="Calibri"/>
              </a:rPr>
              <a:t>•  </a:t>
            </a:r>
            <a:r>
              <a:rPr sz="1400" b="0" i="0">
                <a:solidFill>
                  <a:srgbClr val="333F52"/>
                </a:solidFill>
                <a:latin typeface="Calibri"/>
              </a:rPr>
              <a:t>Bid the click that's likely to convert — not the click that already did.</a:t>
            </a:r>
          </a:p>
          <a:p>
            <a:pPr>
              <a:lnSpc>
                <a:spcPct val="120000"/>
              </a:lnSpc>
              <a:spcAft>
                <a:spcPts val="300"/>
              </a:spcAft>
            </a:pPr>
            <a:r>
              <a:rPr sz="1400" b="1" i="0">
                <a:solidFill>
                  <a:srgbClr val="D97306"/>
                </a:solidFill>
                <a:latin typeface="Calibri"/>
              </a:rPr>
              <a:t>•  </a:t>
            </a:r>
            <a:r>
              <a:rPr sz="1400" b="0" i="0">
                <a:solidFill>
                  <a:srgbClr val="333F52"/>
                </a:solidFill>
                <a:latin typeface="Calibri"/>
              </a:rPr>
              <a:t>Reallocate spend within the hour, not the week.</a:t>
            </a:r>
          </a:p>
          <a:p>
            <a:pPr>
              <a:lnSpc>
                <a:spcPct val="120000"/>
              </a:lnSpc>
              <a:spcAft>
                <a:spcPts val="300"/>
              </a:spcAft>
            </a:pPr>
            <a:r>
              <a:rPr sz="1400" b="1" i="0">
                <a:solidFill>
                  <a:srgbClr val="D97306"/>
                </a:solidFill>
                <a:latin typeface="Calibri"/>
              </a:rPr>
              <a:t>•  </a:t>
            </a:r>
            <a:r>
              <a:rPr sz="1400" b="0" i="0">
                <a:solidFill>
                  <a:srgbClr val="333F52"/>
                </a:solidFill>
                <a:latin typeface="Calibri"/>
              </a:rPr>
              <a:t>Detect campaign degradation before it shows up in revenue.</a:t>
            </a:r>
          </a:p>
          <a:p>
            <a:pPr>
              <a:lnSpc>
                <a:spcPct val="120000"/>
              </a:lnSpc>
              <a:spcAft>
                <a:spcPts val="300"/>
              </a:spcAft>
            </a:pPr>
            <a:r>
              <a:rPr sz="1400" b="1" i="0">
                <a:solidFill>
                  <a:srgbClr val="D97306"/>
                </a:solidFill>
                <a:latin typeface="Calibri"/>
              </a:rPr>
              <a:t>•  </a:t>
            </a:r>
            <a:r>
              <a:rPr sz="1400" b="0" i="0">
                <a:solidFill>
                  <a:srgbClr val="333F52"/>
                </a:solidFill>
                <a:latin typeface="Calibri"/>
              </a:rPr>
              <a:t>Explain every prediction — auditability for finance and compliance.</a:t>
            </a:r>
          </a:p>
        </p:txBody>
      </p:sp>
      <p:sp>
        <p:nvSpPr>
          <p:cNvPr id="5" name="Rectangle 4"/>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6" name="TextBox 5"/>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WHAT WE HAVE BUILT</a:t>
            </a:r>
          </a:p>
          <a:p>
            <a:r>
              <a:rPr sz="2400" b="1" i="0">
                <a:solidFill>
                  <a:srgbClr val="FFFFFF"/>
                </a:solidFill>
                <a:latin typeface="Calibri"/>
              </a:rPr>
              <a:t>Solution overview</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1094415" cy="5303520"/>
          </a:xfrm>
          <a:prstGeom prst="rect">
            <a:avLst/>
          </a:prstGeom>
          <a:noFill/>
        </p:spPr>
        <p:txBody>
          <a:bodyPr wrap="square">
            <a:spAutoFit/>
          </a:bodyPr>
          <a:lstStyle/>
          <a:p>
            <a:pPr>
              <a:lnSpc>
                <a:spcPct val="120000"/>
              </a:lnSpc>
              <a:spcAft>
                <a:spcPts val="600"/>
              </a:spcAft>
            </a:pPr>
            <a:r>
              <a:rPr sz="1700" b="1" i="0">
                <a:solidFill>
                  <a:srgbClr val="0F6E7A"/>
                </a:solidFill>
                <a:latin typeface="Calibri"/>
              </a:rPr>
              <a:t>A managed prediction service on Google Cloud, with a browser UI for non-technical users.</a:t>
            </a:r>
          </a:p>
          <a:p>
            <a:pPr>
              <a:lnSpc>
                <a:spcPct val="120000"/>
              </a:lnSpc>
              <a:spcAft>
                <a:spcPts val="300"/>
              </a:spcAft>
            </a:pPr>
            <a:r>
              <a:rPr sz="1300" b="1" i="0">
                <a:solidFill>
                  <a:srgbClr val="D97306"/>
                </a:solidFill>
                <a:latin typeface="Calibri"/>
              </a:rPr>
              <a:t>•  </a:t>
            </a:r>
            <a:r>
              <a:rPr sz="1300" b="0" i="0">
                <a:solidFill>
                  <a:srgbClr val="333F52"/>
                </a:solidFill>
                <a:latin typeface="Calibri"/>
              </a:rPr>
              <a:t>Executive dashboard — KPIs, daily forecast-vs-reality charts, residual distribution, and a live model-health panel, all in business language.</a:t>
            </a:r>
          </a:p>
          <a:p>
            <a:pPr>
              <a:lnSpc>
                <a:spcPct val="120000"/>
              </a:lnSpc>
              <a:spcAft>
                <a:spcPts val="300"/>
              </a:spcAft>
            </a:pPr>
            <a:r>
              <a:rPr sz="1300" b="1" i="0">
                <a:solidFill>
                  <a:srgbClr val="D97306"/>
                </a:solidFill>
                <a:latin typeface="Calibri"/>
              </a:rPr>
              <a:t>•  </a:t>
            </a:r>
            <a:r>
              <a:rPr sz="1300" b="0" i="0">
                <a:solidFill>
                  <a:srgbClr val="333F52"/>
                </a:solidFill>
                <a:latin typeface="Calibri"/>
              </a:rPr>
              <a:t>Interactive prediction — describe a click in eight plain-English fields, press Predict, watch the pipeline execute step-by-step in real time.</a:t>
            </a:r>
          </a:p>
          <a:p>
            <a:pPr>
              <a:lnSpc>
                <a:spcPct val="120000"/>
              </a:lnSpc>
              <a:spcAft>
                <a:spcPts val="300"/>
              </a:spcAft>
            </a:pPr>
            <a:r>
              <a:rPr sz="1300" b="1" i="0">
                <a:solidFill>
                  <a:srgbClr val="D97306"/>
                </a:solidFill>
                <a:latin typeface="Calibri"/>
              </a:rPr>
              <a:t>•  </a:t>
            </a:r>
            <a:r>
              <a:rPr sz="1300" b="0" i="0">
                <a:solidFill>
                  <a:srgbClr val="333F52"/>
                </a:solidFill>
                <a:latin typeface="Calibri"/>
              </a:rPr>
              <a:t>Explainable AI — every prediction returns per-feature attributions, rendered as horizontal bars so anyone can see why the model said what it said.</a:t>
            </a:r>
          </a:p>
          <a:p>
            <a:pPr>
              <a:lnSpc>
                <a:spcPct val="120000"/>
              </a:lnSpc>
              <a:spcAft>
                <a:spcPts val="300"/>
              </a:spcAft>
            </a:pPr>
            <a:r>
              <a:rPr sz="1300" b="1" i="0">
                <a:solidFill>
                  <a:srgbClr val="D97306"/>
                </a:solidFill>
                <a:latin typeface="Calibri"/>
              </a:rPr>
              <a:t>•  </a:t>
            </a:r>
            <a:r>
              <a:rPr sz="1300" b="0" i="0">
                <a:solidFill>
                  <a:srgbClr val="333F52"/>
                </a:solidFill>
                <a:latin typeface="Calibri"/>
              </a:rPr>
              <a:t>REST API — the same predictions are available programmatically for SA360, SSGTM and downstream activation.</a:t>
            </a:r>
          </a:p>
          <a:p>
            <a:pPr>
              <a:lnSpc>
                <a:spcPct val="120000"/>
              </a:lnSpc>
              <a:spcAft>
                <a:spcPts val="300"/>
              </a:spcAft>
            </a:pPr>
            <a:r>
              <a:rPr sz="1300" b="1" i="0">
                <a:solidFill>
                  <a:srgbClr val="D97306"/>
                </a:solidFill>
                <a:latin typeface="Calibri"/>
              </a:rPr>
              <a:t>•  </a:t>
            </a:r>
            <a:r>
              <a:rPr sz="1300" b="0" i="0">
                <a:solidFill>
                  <a:srgbClr val="333F52"/>
                </a:solidFill>
                <a:latin typeface="Calibri"/>
              </a:rPr>
              <a:t>Safety net — anomaly detection, automatic circuit-breaker, negative-prediction guards, configurable timeouts, kill-switch flag.</a:t>
            </a:r>
          </a:p>
          <a:p>
            <a:pPr>
              <a:lnSpc>
                <a:spcPct val="120000"/>
              </a:lnSpc>
              <a:spcAft>
                <a:spcPts val="300"/>
              </a:spcAft>
            </a:pPr>
            <a:r>
              <a:rPr sz="1300" b="1" i="0">
                <a:solidFill>
                  <a:srgbClr val="D97306"/>
                </a:solidFill>
                <a:latin typeface="Calibri"/>
              </a:rPr>
              <a:t>•  </a:t>
            </a:r>
            <a:r>
              <a:rPr sz="1300" b="0" i="0">
                <a:solidFill>
                  <a:srgbClr val="333F52"/>
                </a:solidFill>
                <a:latin typeface="Calibri"/>
              </a:rPr>
              <a:t>One-command deploys — every change ships through CI with a tested rollback to the prior model version.</a:t>
            </a:r>
          </a:p>
          <a:p>
            <a:pPr>
              <a:lnSpc>
                <a:spcPct val="120000"/>
              </a:lnSpc>
              <a:spcAft>
                <a:spcPts val="600"/>
              </a:spcAft>
            </a:pPr>
            <a:r>
              <a:rPr sz="1700" b="1" i="0">
                <a:solidFill>
                  <a:srgbClr val="0F6E7A"/>
                </a:solidFill>
                <a:latin typeface="Calibri"/>
              </a:rPr>
              <a:t> </a:t>
            </a:r>
          </a:p>
          <a:p>
            <a:pPr>
              <a:lnSpc>
                <a:spcPct val="120000"/>
              </a:lnSpc>
            </a:pPr>
            <a:r>
              <a:rPr sz="1100" b="0" i="1">
                <a:solidFill>
                  <a:srgbClr val="6B7380"/>
                </a:solidFill>
                <a:latin typeface="Calibri"/>
              </a:rPr>
              <a:t>All components run in Google Cloud (europe-west2, London) on managed services — Cloud Run, Vertex AI, BigQuery, Pub/Sub — so there is no infrastructure for the client team to operate.</a:t>
            </a:r>
          </a:p>
        </p:txBody>
      </p:sp>
      <p:sp>
        <p:nvSpPr>
          <p:cNvPr id="5" name="Rectangle 4"/>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6" name="TextBox 5"/>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WHAT YOU RECEIVE, WHO CONSUMES IT</a:t>
            </a:r>
          </a:p>
          <a:p>
            <a:r>
              <a:rPr sz="2400" b="1" i="0">
                <a:solidFill>
                  <a:srgbClr val="FFFFFF"/>
                </a:solidFill>
                <a:latin typeface="Calibri"/>
              </a:rPr>
              <a:t>Deliverables and audience</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143000"/>
            <a:ext cx="4206240" cy="41148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164592" tIns="73152"/>
          <a:lstStyle/>
          <a:p>
            <a:pPr algn="ctr"/>
            <a:r>
              <a:rPr sz="1000" b="1" i="0">
                <a:solidFill>
                  <a:srgbClr val="FFFFFF"/>
                </a:solidFill>
                <a:latin typeface="Calibri"/>
              </a:rPr>
              <a:t>WHAT</a:t>
            </a:r>
          </a:p>
        </p:txBody>
      </p:sp>
      <p:sp>
        <p:nvSpPr>
          <p:cNvPr id="5" name="Rectangle 4"/>
          <p:cNvSpPr/>
          <p:nvPr/>
        </p:nvSpPr>
        <p:spPr>
          <a:xfrm>
            <a:off x="4663440" y="1143000"/>
            <a:ext cx="3108960" cy="41148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164592" tIns="73152"/>
          <a:lstStyle/>
          <a:p>
            <a:pPr algn="ctr"/>
            <a:r>
              <a:rPr sz="1000" b="1" i="0">
                <a:solidFill>
                  <a:srgbClr val="FFFFFF"/>
                </a:solidFill>
                <a:latin typeface="Calibri"/>
              </a:rPr>
              <a:t>AUDIENCE</a:t>
            </a:r>
          </a:p>
        </p:txBody>
      </p:sp>
      <p:sp>
        <p:nvSpPr>
          <p:cNvPr id="6" name="Rectangle 5"/>
          <p:cNvSpPr/>
          <p:nvPr/>
        </p:nvSpPr>
        <p:spPr>
          <a:xfrm>
            <a:off x="7772400" y="1143000"/>
            <a:ext cx="3962095" cy="41148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164592" tIns="73152"/>
          <a:lstStyle/>
          <a:p>
            <a:pPr algn="ctr"/>
            <a:r>
              <a:rPr sz="1000" b="1" i="0">
                <a:solidFill>
                  <a:srgbClr val="FFFFFF"/>
                </a:solidFill>
                <a:latin typeface="Calibri"/>
              </a:rPr>
              <a:t>CLIENT-FACING?</a:t>
            </a:r>
          </a:p>
        </p:txBody>
      </p:sp>
      <p:sp>
        <p:nvSpPr>
          <p:cNvPr id="7" name="Rectangle 6"/>
          <p:cNvSpPr/>
          <p:nvPr/>
        </p:nvSpPr>
        <p:spPr>
          <a:xfrm>
            <a:off x="457200" y="1554480"/>
            <a:ext cx="11277295" cy="502920"/>
          </a:xfrm>
          <a:prstGeom prst="rect">
            <a:avLst/>
          </a:prstGeom>
          <a:solidFill>
            <a:srgbClr val="F4F6FA"/>
          </a:solidFill>
          <a:ln w="6350">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554480"/>
            <a:ext cx="54864" cy="502920"/>
          </a:xfrm>
          <a:prstGeom prst="rect">
            <a:avLst/>
          </a:prstGeom>
          <a:solidFill>
            <a:srgbClr val="1F8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554480"/>
            <a:ext cx="4041648" cy="502920"/>
          </a:xfrm>
          <a:prstGeom prst="rect">
            <a:avLst/>
          </a:prstGeom>
          <a:noFill/>
        </p:spPr>
        <p:txBody>
          <a:bodyPr wrap="none" anchor="ctr">
            <a:spAutoFit/>
          </a:bodyPr>
          <a:lstStyle/>
          <a:p>
            <a:r>
              <a:rPr sz="1100" b="1" i="0">
                <a:solidFill>
                  <a:srgbClr val="0B1F3A"/>
                </a:solidFill>
                <a:latin typeface="Consolas"/>
              </a:rPr>
              <a:t>dashboard/  (React + nginx)</a:t>
            </a:r>
          </a:p>
        </p:txBody>
      </p:sp>
      <p:sp>
        <p:nvSpPr>
          <p:cNvPr id="10" name="TextBox 9"/>
          <p:cNvSpPr txBox="1"/>
          <p:nvPr/>
        </p:nvSpPr>
        <p:spPr>
          <a:xfrm>
            <a:off x="4663440" y="1554480"/>
            <a:ext cx="3108960" cy="502920"/>
          </a:xfrm>
          <a:prstGeom prst="rect">
            <a:avLst/>
          </a:prstGeom>
          <a:noFill/>
        </p:spPr>
        <p:txBody>
          <a:bodyPr wrap="none" anchor="ctr">
            <a:spAutoFit/>
          </a:bodyPr>
          <a:lstStyle/>
          <a:p>
            <a:r>
              <a:rPr sz="1100" b="0" i="0">
                <a:solidFill>
                  <a:srgbClr val="333F52"/>
                </a:solidFill>
                <a:latin typeface="Calibri"/>
              </a:rPr>
              <a:t>Executive UI</a:t>
            </a:r>
          </a:p>
        </p:txBody>
      </p:sp>
      <p:sp>
        <p:nvSpPr>
          <p:cNvPr id="11" name="TextBox 10"/>
          <p:cNvSpPr txBox="1"/>
          <p:nvPr/>
        </p:nvSpPr>
        <p:spPr>
          <a:xfrm>
            <a:off x="7772400" y="1554480"/>
            <a:ext cx="3962095" cy="502920"/>
          </a:xfrm>
          <a:prstGeom prst="rect">
            <a:avLst/>
          </a:prstGeom>
          <a:noFill/>
        </p:spPr>
        <p:txBody>
          <a:bodyPr wrap="square" anchor="ctr">
            <a:spAutoFit/>
          </a:bodyPr>
          <a:lstStyle/>
          <a:p>
            <a:r>
              <a:rPr sz="1100" b="1" i="0">
                <a:solidFill>
                  <a:srgbClr val="1F8A4F"/>
                </a:solidFill>
                <a:latin typeface="Calibri"/>
              </a:rPr>
              <a:t>● </a:t>
            </a:r>
            <a:r>
              <a:rPr sz="1100" b="1" i="0">
                <a:solidFill>
                  <a:srgbClr val="0B1F3A"/>
                </a:solidFill>
                <a:latin typeface="Calibri"/>
              </a:rPr>
              <a:t>Yes — primary demo</a:t>
            </a:r>
          </a:p>
        </p:txBody>
      </p:sp>
      <p:sp>
        <p:nvSpPr>
          <p:cNvPr id="12" name="Rectangle 11"/>
          <p:cNvSpPr/>
          <p:nvPr/>
        </p:nvSpPr>
        <p:spPr>
          <a:xfrm>
            <a:off x="457200" y="2057400"/>
            <a:ext cx="11277295" cy="502920"/>
          </a:xfrm>
          <a:prstGeom prst="rect">
            <a:avLst/>
          </a:prstGeom>
          <a:solidFill>
            <a:srgbClr val="FFFFFF"/>
          </a:solidFill>
          <a:ln w="6350">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057400"/>
            <a:ext cx="54864" cy="502920"/>
          </a:xfrm>
          <a:prstGeom prst="rect">
            <a:avLst/>
          </a:prstGeom>
          <a:solidFill>
            <a:srgbClr val="0F6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2057400"/>
            <a:ext cx="4041648" cy="502920"/>
          </a:xfrm>
          <a:prstGeom prst="rect">
            <a:avLst/>
          </a:prstGeom>
          <a:noFill/>
        </p:spPr>
        <p:txBody>
          <a:bodyPr wrap="none" anchor="ctr">
            <a:spAutoFit/>
          </a:bodyPr>
          <a:lstStyle/>
          <a:p>
            <a:r>
              <a:rPr sz="1100" b="1" i="0">
                <a:solidFill>
                  <a:srgbClr val="0B1F3A"/>
                </a:solidFill>
                <a:latin typeface="Consolas"/>
              </a:rPr>
              <a:t>scoring-api  /v1/score, /v1/explain</a:t>
            </a:r>
          </a:p>
        </p:txBody>
      </p:sp>
      <p:sp>
        <p:nvSpPr>
          <p:cNvPr id="15" name="TextBox 14"/>
          <p:cNvSpPr txBox="1"/>
          <p:nvPr/>
        </p:nvSpPr>
        <p:spPr>
          <a:xfrm>
            <a:off x="4663440" y="2057400"/>
            <a:ext cx="3108960" cy="502920"/>
          </a:xfrm>
          <a:prstGeom prst="rect">
            <a:avLst/>
          </a:prstGeom>
          <a:noFill/>
        </p:spPr>
        <p:txBody>
          <a:bodyPr wrap="none" anchor="ctr">
            <a:spAutoFit/>
          </a:bodyPr>
          <a:lstStyle/>
          <a:p>
            <a:r>
              <a:rPr sz="1100" b="0" i="0">
                <a:solidFill>
                  <a:srgbClr val="333F52"/>
                </a:solidFill>
                <a:latin typeface="Calibri"/>
              </a:rPr>
              <a:t>Their backend / SA360 integration</a:t>
            </a:r>
          </a:p>
        </p:txBody>
      </p:sp>
      <p:sp>
        <p:nvSpPr>
          <p:cNvPr id="16" name="TextBox 15"/>
          <p:cNvSpPr txBox="1"/>
          <p:nvPr/>
        </p:nvSpPr>
        <p:spPr>
          <a:xfrm>
            <a:off x="7772400" y="2057400"/>
            <a:ext cx="3962095" cy="502920"/>
          </a:xfrm>
          <a:prstGeom prst="rect">
            <a:avLst/>
          </a:prstGeom>
          <a:noFill/>
        </p:spPr>
        <p:txBody>
          <a:bodyPr wrap="square" anchor="ctr">
            <a:spAutoFit/>
          </a:bodyPr>
          <a:lstStyle/>
          <a:p>
            <a:r>
              <a:rPr sz="1100" b="1" i="0">
                <a:solidFill>
                  <a:srgbClr val="0F6E7A"/>
                </a:solidFill>
                <a:latin typeface="Calibri"/>
              </a:rPr>
              <a:t>● </a:t>
            </a:r>
            <a:r>
              <a:rPr sz="1100" b="0" i="0">
                <a:solidFill>
                  <a:srgbClr val="333F52"/>
                </a:solidFill>
                <a:latin typeface="Calibri"/>
              </a:rPr>
              <a:t>API only — show via curl / Postman on slide 7</a:t>
            </a:r>
          </a:p>
        </p:txBody>
      </p:sp>
      <p:sp>
        <p:nvSpPr>
          <p:cNvPr id="17" name="Rectangle 16"/>
          <p:cNvSpPr/>
          <p:nvPr/>
        </p:nvSpPr>
        <p:spPr>
          <a:xfrm>
            <a:off x="457200" y="2560320"/>
            <a:ext cx="11277295" cy="502920"/>
          </a:xfrm>
          <a:prstGeom prst="rect">
            <a:avLst/>
          </a:prstGeom>
          <a:solidFill>
            <a:srgbClr val="F4F6FA"/>
          </a:solidFill>
          <a:ln w="6350">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2560320"/>
            <a:ext cx="54864" cy="502920"/>
          </a:xfrm>
          <a:prstGeom prst="rect">
            <a:avLst/>
          </a:prstGeom>
          <a:solidFill>
            <a:srgbClr val="0F6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2560320"/>
            <a:ext cx="4041648" cy="502920"/>
          </a:xfrm>
          <a:prstGeom prst="rect">
            <a:avLst/>
          </a:prstGeom>
          <a:noFill/>
        </p:spPr>
        <p:txBody>
          <a:bodyPr wrap="none" anchor="ctr">
            <a:spAutoFit/>
          </a:bodyPr>
          <a:lstStyle/>
          <a:p>
            <a:r>
              <a:rPr sz="1100" b="1" i="0">
                <a:solidFill>
                  <a:srgbClr val="0B1F3A"/>
                </a:solidFill>
                <a:latin typeface="Consolas"/>
              </a:rPr>
              <a:t>reconciliation  /reconciliation</a:t>
            </a:r>
          </a:p>
        </p:txBody>
      </p:sp>
      <p:sp>
        <p:nvSpPr>
          <p:cNvPr id="20" name="TextBox 19"/>
          <p:cNvSpPr txBox="1"/>
          <p:nvPr/>
        </p:nvSpPr>
        <p:spPr>
          <a:xfrm>
            <a:off x="4663440" y="2560320"/>
            <a:ext cx="3108960" cy="502920"/>
          </a:xfrm>
          <a:prstGeom prst="rect">
            <a:avLst/>
          </a:prstGeom>
          <a:noFill/>
        </p:spPr>
        <p:txBody>
          <a:bodyPr wrap="none" anchor="ctr">
            <a:spAutoFit/>
          </a:bodyPr>
          <a:lstStyle/>
          <a:p>
            <a:r>
              <a:rPr sz="1100" b="0" i="0">
                <a:solidFill>
                  <a:srgbClr val="333F52"/>
                </a:solidFill>
                <a:latin typeface="Calibri"/>
              </a:rPr>
              <a:t>Powers the dashboard</a:t>
            </a:r>
          </a:p>
        </p:txBody>
      </p:sp>
      <p:sp>
        <p:nvSpPr>
          <p:cNvPr id="21" name="TextBox 20"/>
          <p:cNvSpPr txBox="1"/>
          <p:nvPr/>
        </p:nvSpPr>
        <p:spPr>
          <a:xfrm>
            <a:off x="7772400" y="2560320"/>
            <a:ext cx="3962095" cy="502920"/>
          </a:xfrm>
          <a:prstGeom prst="rect">
            <a:avLst/>
          </a:prstGeom>
          <a:noFill/>
        </p:spPr>
        <p:txBody>
          <a:bodyPr wrap="square" anchor="ctr">
            <a:spAutoFit/>
          </a:bodyPr>
          <a:lstStyle/>
          <a:p>
            <a:r>
              <a:rPr sz="1100" b="1" i="0">
                <a:solidFill>
                  <a:srgbClr val="0F6E7A"/>
                </a:solidFill>
                <a:latin typeface="Calibri"/>
              </a:rPr>
              <a:t>● </a:t>
            </a:r>
            <a:r>
              <a:rPr sz="1100" b="0" i="0">
                <a:solidFill>
                  <a:srgbClr val="333F52"/>
                </a:solidFill>
                <a:latin typeface="Calibri"/>
              </a:rPr>
              <a:t>API only — invisible to client</a:t>
            </a:r>
          </a:p>
        </p:txBody>
      </p:sp>
      <p:sp>
        <p:nvSpPr>
          <p:cNvPr id="22" name="Rectangle 21"/>
          <p:cNvSpPr/>
          <p:nvPr/>
        </p:nvSpPr>
        <p:spPr>
          <a:xfrm>
            <a:off x="457200" y="3063240"/>
            <a:ext cx="11277295" cy="502920"/>
          </a:xfrm>
          <a:prstGeom prst="rect">
            <a:avLst/>
          </a:prstGeom>
          <a:solidFill>
            <a:srgbClr val="FFFFFF"/>
          </a:solidFill>
          <a:ln w="6350">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063240"/>
            <a:ext cx="54864" cy="502920"/>
          </a:xfrm>
          <a:prstGeom prst="rect">
            <a:avLst/>
          </a:prstGeom>
          <a:solidFill>
            <a:srgbClr val="6B7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3063240"/>
            <a:ext cx="4041648" cy="502920"/>
          </a:xfrm>
          <a:prstGeom prst="rect">
            <a:avLst/>
          </a:prstGeom>
          <a:noFill/>
        </p:spPr>
        <p:txBody>
          <a:bodyPr wrap="none" anchor="ctr">
            <a:spAutoFit/>
          </a:bodyPr>
          <a:lstStyle/>
          <a:p>
            <a:r>
              <a:rPr sz="1100" b="1" i="0">
                <a:solidFill>
                  <a:srgbClr val="0B1F3A"/>
                </a:solidFill>
                <a:latin typeface="Consolas"/>
              </a:rPr>
              <a:t>activation</a:t>
            </a:r>
          </a:p>
        </p:txBody>
      </p:sp>
      <p:sp>
        <p:nvSpPr>
          <p:cNvPr id="25" name="TextBox 24"/>
          <p:cNvSpPr txBox="1"/>
          <p:nvPr/>
        </p:nvSpPr>
        <p:spPr>
          <a:xfrm>
            <a:off x="4663440" y="3063240"/>
            <a:ext cx="3108960" cy="502920"/>
          </a:xfrm>
          <a:prstGeom prst="rect">
            <a:avLst/>
          </a:prstGeom>
          <a:noFill/>
        </p:spPr>
        <p:txBody>
          <a:bodyPr wrap="none" anchor="ctr">
            <a:spAutoFit/>
          </a:bodyPr>
          <a:lstStyle/>
          <a:p>
            <a:r>
              <a:rPr sz="1100" b="0" i="0">
                <a:solidFill>
                  <a:srgbClr val="333F52"/>
                </a:solidFill>
                <a:latin typeface="Calibri"/>
              </a:rPr>
              <a:t>SA360 / SSGTM push</a:t>
            </a:r>
          </a:p>
        </p:txBody>
      </p:sp>
      <p:sp>
        <p:nvSpPr>
          <p:cNvPr id="26" name="TextBox 25"/>
          <p:cNvSpPr txBox="1"/>
          <p:nvPr/>
        </p:nvSpPr>
        <p:spPr>
          <a:xfrm>
            <a:off x="7772400" y="3063240"/>
            <a:ext cx="3962095" cy="502920"/>
          </a:xfrm>
          <a:prstGeom prst="rect">
            <a:avLst/>
          </a:prstGeom>
          <a:noFill/>
        </p:spPr>
        <p:txBody>
          <a:bodyPr wrap="square" anchor="ctr">
            <a:spAutoFit/>
          </a:bodyPr>
          <a:lstStyle/>
          <a:p>
            <a:r>
              <a:rPr sz="1100" b="1" i="0">
                <a:solidFill>
                  <a:srgbClr val="6B7380"/>
                </a:solidFill>
                <a:latin typeface="Calibri"/>
              </a:rPr>
              <a:t>● </a:t>
            </a:r>
            <a:r>
              <a:rPr sz="1100" b="0" i="0">
                <a:solidFill>
                  <a:srgbClr val="333F52"/>
                </a:solidFill>
                <a:latin typeface="Calibri"/>
              </a:rPr>
              <a:t>Backend, no UI</a:t>
            </a:r>
          </a:p>
        </p:txBody>
      </p:sp>
      <p:sp>
        <p:nvSpPr>
          <p:cNvPr id="27" name="Rectangle 26"/>
          <p:cNvSpPr/>
          <p:nvPr/>
        </p:nvSpPr>
        <p:spPr>
          <a:xfrm>
            <a:off x="457200" y="3566160"/>
            <a:ext cx="11277295" cy="502920"/>
          </a:xfrm>
          <a:prstGeom prst="rect">
            <a:avLst/>
          </a:prstGeom>
          <a:solidFill>
            <a:srgbClr val="F4F6FA"/>
          </a:solidFill>
          <a:ln w="6350">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3566160"/>
            <a:ext cx="54864" cy="502920"/>
          </a:xfrm>
          <a:prstGeom prst="rect">
            <a:avLst/>
          </a:prstGeom>
          <a:solidFill>
            <a:srgbClr val="6B7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566160"/>
            <a:ext cx="4041648" cy="502920"/>
          </a:xfrm>
          <a:prstGeom prst="rect">
            <a:avLst/>
          </a:prstGeom>
          <a:noFill/>
        </p:spPr>
        <p:txBody>
          <a:bodyPr wrap="none" anchor="ctr">
            <a:spAutoFit/>
          </a:bodyPr>
          <a:lstStyle/>
          <a:p>
            <a:r>
              <a:rPr sz="1100" b="1" i="0">
                <a:solidFill>
                  <a:srgbClr val="0B1F3A"/>
                </a:solidFill>
                <a:latin typeface="Consolas"/>
              </a:rPr>
              <a:t>breaker-automation, ml-pipeline, bounds-calibration</a:t>
            </a:r>
          </a:p>
        </p:txBody>
      </p:sp>
      <p:sp>
        <p:nvSpPr>
          <p:cNvPr id="30" name="TextBox 29"/>
          <p:cNvSpPr txBox="1"/>
          <p:nvPr/>
        </p:nvSpPr>
        <p:spPr>
          <a:xfrm>
            <a:off x="4663440" y="3566160"/>
            <a:ext cx="3108960" cy="502920"/>
          </a:xfrm>
          <a:prstGeom prst="rect">
            <a:avLst/>
          </a:prstGeom>
          <a:noFill/>
        </p:spPr>
        <p:txBody>
          <a:bodyPr wrap="none" anchor="ctr">
            <a:spAutoFit/>
          </a:bodyPr>
          <a:lstStyle/>
          <a:p>
            <a:r>
              <a:rPr sz="1100" b="0" i="0">
                <a:solidFill>
                  <a:srgbClr val="333F52"/>
                </a:solidFill>
                <a:latin typeface="Calibri"/>
              </a:rPr>
              <a:t>Internal / scheduled</a:t>
            </a:r>
          </a:p>
        </p:txBody>
      </p:sp>
      <p:sp>
        <p:nvSpPr>
          <p:cNvPr id="31" name="TextBox 30"/>
          <p:cNvSpPr txBox="1"/>
          <p:nvPr/>
        </p:nvSpPr>
        <p:spPr>
          <a:xfrm>
            <a:off x="7772400" y="3566160"/>
            <a:ext cx="3962095" cy="502920"/>
          </a:xfrm>
          <a:prstGeom prst="rect">
            <a:avLst/>
          </a:prstGeom>
          <a:noFill/>
        </p:spPr>
        <p:txBody>
          <a:bodyPr wrap="square" anchor="ctr">
            <a:spAutoFit/>
          </a:bodyPr>
          <a:lstStyle/>
          <a:p>
            <a:r>
              <a:rPr sz="1100" b="1" i="0">
                <a:solidFill>
                  <a:srgbClr val="6B7380"/>
                </a:solidFill>
                <a:latin typeface="Calibri"/>
              </a:rPr>
              <a:t>● </a:t>
            </a:r>
            <a:r>
              <a:rPr sz="1100" b="0" i="0">
                <a:solidFill>
                  <a:srgbClr val="333F52"/>
                </a:solidFill>
                <a:latin typeface="Calibri"/>
              </a:rPr>
              <a:t>Backend</a:t>
            </a:r>
          </a:p>
        </p:txBody>
      </p:sp>
      <p:sp>
        <p:nvSpPr>
          <p:cNvPr id="32" name="Rectangle 31"/>
          <p:cNvSpPr/>
          <p:nvPr/>
        </p:nvSpPr>
        <p:spPr>
          <a:xfrm>
            <a:off x="457200" y="4069080"/>
            <a:ext cx="11277295" cy="502920"/>
          </a:xfrm>
          <a:prstGeom prst="rect">
            <a:avLst/>
          </a:prstGeom>
          <a:solidFill>
            <a:srgbClr val="FFFFFF"/>
          </a:solidFill>
          <a:ln w="6350">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069080"/>
            <a:ext cx="54864" cy="502920"/>
          </a:xfrm>
          <a:prstGeom prst="rect">
            <a:avLst/>
          </a:prstGeom>
          <a:solidFill>
            <a:srgbClr val="6B7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4069080"/>
            <a:ext cx="4041648" cy="502920"/>
          </a:xfrm>
          <a:prstGeom prst="rect">
            <a:avLst/>
          </a:prstGeom>
          <a:noFill/>
        </p:spPr>
        <p:txBody>
          <a:bodyPr wrap="none" anchor="ctr">
            <a:spAutoFit/>
          </a:bodyPr>
          <a:lstStyle/>
          <a:p>
            <a:r>
              <a:rPr sz="1100" b="1" i="0">
                <a:solidFill>
                  <a:srgbClr val="0B1F3A"/>
                </a:solidFill>
                <a:latin typeface="Consolas"/>
              </a:rPr>
              <a:t>mcp-servers/scoring-mcp, mlops-mcp</a:t>
            </a:r>
          </a:p>
        </p:txBody>
      </p:sp>
      <p:sp>
        <p:nvSpPr>
          <p:cNvPr id="35" name="TextBox 34"/>
          <p:cNvSpPr txBox="1"/>
          <p:nvPr/>
        </p:nvSpPr>
        <p:spPr>
          <a:xfrm>
            <a:off x="4663440" y="4069080"/>
            <a:ext cx="3108960" cy="502920"/>
          </a:xfrm>
          <a:prstGeom prst="rect">
            <a:avLst/>
          </a:prstGeom>
          <a:noFill/>
        </p:spPr>
        <p:txBody>
          <a:bodyPr wrap="none" anchor="ctr">
            <a:spAutoFit/>
          </a:bodyPr>
          <a:lstStyle/>
          <a:p>
            <a:r>
              <a:rPr sz="1100" b="0" i="0">
                <a:solidFill>
                  <a:srgbClr val="333F52"/>
                </a:solidFill>
                <a:latin typeface="Calibri"/>
              </a:rPr>
              <a:t>Agent tooling for engineers</a:t>
            </a:r>
          </a:p>
        </p:txBody>
      </p:sp>
      <p:sp>
        <p:nvSpPr>
          <p:cNvPr id="36" name="TextBox 35"/>
          <p:cNvSpPr txBox="1"/>
          <p:nvPr/>
        </p:nvSpPr>
        <p:spPr>
          <a:xfrm>
            <a:off x="7772400" y="4069080"/>
            <a:ext cx="3962095" cy="502920"/>
          </a:xfrm>
          <a:prstGeom prst="rect">
            <a:avLst/>
          </a:prstGeom>
          <a:noFill/>
        </p:spPr>
        <p:txBody>
          <a:bodyPr wrap="square" anchor="ctr">
            <a:spAutoFit/>
          </a:bodyPr>
          <a:lstStyle/>
          <a:p>
            <a:r>
              <a:rPr sz="1100" b="1" i="0">
                <a:solidFill>
                  <a:srgbClr val="6B7380"/>
                </a:solidFill>
                <a:latin typeface="Calibri"/>
              </a:rPr>
              <a:t>● </a:t>
            </a:r>
            <a:r>
              <a:rPr sz="1100" b="0" i="0">
                <a:solidFill>
                  <a:srgbClr val="333F52"/>
                </a:solidFill>
                <a:latin typeface="Calibri"/>
              </a:rPr>
              <a:t>Not client-facing</a:t>
            </a:r>
          </a:p>
        </p:txBody>
      </p:sp>
      <p:sp>
        <p:nvSpPr>
          <p:cNvPr id="37" name="Rectangle 36"/>
          <p:cNvSpPr/>
          <p:nvPr/>
        </p:nvSpPr>
        <p:spPr>
          <a:xfrm>
            <a:off x="457200" y="4572000"/>
            <a:ext cx="11277295" cy="502920"/>
          </a:xfrm>
          <a:prstGeom prst="rect">
            <a:avLst/>
          </a:prstGeom>
          <a:solidFill>
            <a:srgbClr val="F4F6FA"/>
          </a:solidFill>
          <a:ln w="6350">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4572000"/>
            <a:ext cx="54864" cy="50292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 y="4572000"/>
            <a:ext cx="4041648" cy="502920"/>
          </a:xfrm>
          <a:prstGeom prst="rect">
            <a:avLst/>
          </a:prstGeom>
          <a:noFill/>
        </p:spPr>
        <p:txBody>
          <a:bodyPr wrap="none" anchor="ctr">
            <a:spAutoFit/>
          </a:bodyPr>
          <a:lstStyle/>
          <a:p>
            <a:r>
              <a:rPr sz="1100" b="1" i="0">
                <a:solidFill>
                  <a:srgbClr val="0B1F3A"/>
                </a:solidFill>
                <a:latin typeface="Consolas"/>
              </a:rPr>
              <a:t>Dataform models, BigQuery views</a:t>
            </a:r>
          </a:p>
        </p:txBody>
      </p:sp>
      <p:sp>
        <p:nvSpPr>
          <p:cNvPr id="40" name="TextBox 39"/>
          <p:cNvSpPr txBox="1"/>
          <p:nvPr/>
        </p:nvSpPr>
        <p:spPr>
          <a:xfrm>
            <a:off x="4663440" y="4572000"/>
            <a:ext cx="3108960" cy="502920"/>
          </a:xfrm>
          <a:prstGeom prst="rect">
            <a:avLst/>
          </a:prstGeom>
          <a:noFill/>
        </p:spPr>
        <p:txBody>
          <a:bodyPr wrap="none" anchor="ctr">
            <a:spAutoFit/>
          </a:bodyPr>
          <a:lstStyle/>
          <a:p>
            <a:r>
              <a:rPr sz="1100" b="0" i="0">
                <a:solidFill>
                  <a:srgbClr val="333F52"/>
                </a:solidFill>
                <a:latin typeface="Calibri"/>
              </a:rPr>
              <a:t>Analyst layer</a:t>
            </a:r>
          </a:p>
        </p:txBody>
      </p:sp>
      <p:sp>
        <p:nvSpPr>
          <p:cNvPr id="41" name="TextBox 40"/>
          <p:cNvSpPr txBox="1"/>
          <p:nvPr/>
        </p:nvSpPr>
        <p:spPr>
          <a:xfrm>
            <a:off x="7772400" y="4572000"/>
            <a:ext cx="3962095" cy="502920"/>
          </a:xfrm>
          <a:prstGeom prst="rect">
            <a:avLst/>
          </a:prstGeom>
          <a:noFill/>
        </p:spPr>
        <p:txBody>
          <a:bodyPr wrap="square" anchor="ctr">
            <a:spAutoFit/>
          </a:bodyPr>
          <a:lstStyle/>
          <a:p>
            <a:r>
              <a:rPr sz="1100" b="1" i="0">
                <a:solidFill>
                  <a:srgbClr val="D97306"/>
                </a:solidFill>
                <a:latin typeface="Calibri"/>
              </a:rPr>
              <a:t>● </a:t>
            </a:r>
            <a:r>
              <a:rPr sz="1100" b="0" i="0">
                <a:solidFill>
                  <a:srgbClr val="333F52"/>
                </a:solidFill>
                <a:latin typeface="Calibri"/>
              </a:rPr>
              <a:t>Available in Looker Studio as a second visual artefact (optional)</a:t>
            </a:r>
          </a:p>
        </p:txBody>
      </p:sp>
      <p:sp>
        <p:nvSpPr>
          <p:cNvPr id="42" name="TextBox 41"/>
          <p:cNvSpPr txBox="1"/>
          <p:nvPr/>
        </p:nvSpPr>
        <p:spPr>
          <a:xfrm>
            <a:off x="457200" y="5184648"/>
            <a:ext cx="11277295" cy="457200"/>
          </a:xfrm>
          <a:prstGeom prst="rect">
            <a:avLst/>
          </a:prstGeom>
          <a:noFill/>
        </p:spPr>
        <p:txBody>
          <a:bodyPr wrap="none">
            <a:spAutoFit/>
          </a:bodyPr>
          <a:lstStyle/>
          <a:p>
            <a:r>
              <a:rPr sz="1000" b="0" i="1">
                <a:solidFill>
                  <a:srgbClr val="6B7380"/>
                </a:solidFill>
                <a:latin typeface="Calibri"/>
              </a:rPr>
              <a:t>Nothing else in the repository is a runnable demo. The dashboard plus a handful of API calls against the scoring service is the complete client-facing surface.</a:t>
            </a:r>
          </a:p>
        </p:txBody>
      </p:sp>
      <p:sp>
        <p:nvSpPr>
          <p:cNvPr id="43" name="Rectangle 42"/>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44" name="TextBox 43"/>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PREDICTIVE RPC ESTIMATOR</a:t>
            </a:r>
          </a:p>
          <a:p>
            <a:r>
              <a:rPr sz="2400" b="1" i="0">
                <a:solidFill>
                  <a:srgbClr val="FFFFFF"/>
                </a:solidFill>
                <a:latin typeface="Calibri"/>
              </a:rPr>
              <a:t>End-to-end architecture</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chitecture.png"/>
          <p:cNvPicPr>
            <a:picLocks noChangeAspect="1"/>
          </p:cNvPicPr>
          <p:nvPr/>
        </p:nvPicPr>
        <p:blipFill>
          <a:blip r:embed="rId2"/>
          <a:stretch>
            <a:fillRect/>
          </a:stretch>
        </p:blipFill>
        <p:spPr>
          <a:xfrm>
            <a:off x="1360017" y="1051560"/>
            <a:ext cx="9471660" cy="5166360"/>
          </a:xfrm>
          <a:prstGeom prst="rect">
            <a:avLst/>
          </a:prstGeom>
        </p:spPr>
      </p:pic>
      <p:sp>
        <p:nvSpPr>
          <p:cNvPr id="5" name="Rectangle 4"/>
          <p:cNvSpPr/>
          <p:nvPr/>
        </p:nvSpPr>
        <p:spPr>
          <a:xfrm>
            <a:off x="2570882" y="3358931"/>
            <a:ext cx="1177230" cy="174902"/>
          </a:xfrm>
          <a:prstGeom prst="rect">
            <a:avLst/>
          </a:prstGeom>
          <a:solidFill>
            <a:srgbClr val="4E82D5"/>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Bounds Calibration Job</a:t>
            </a:r>
          </a:p>
        </p:txBody>
      </p:sp>
      <p:sp>
        <p:nvSpPr>
          <p:cNvPr id="6" name="Rectangle 5"/>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7" name="TextBox 6"/>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FIVE MINUTES, THREE SCREENS</a:t>
            </a:r>
          </a:p>
          <a:p>
            <a:r>
              <a:rPr sz="2400" b="1" i="0">
                <a:solidFill>
                  <a:srgbClr val="FFFFFF"/>
                </a:solidFill>
                <a:latin typeface="Calibri"/>
              </a:rPr>
              <a:t>Live demo — what you will see</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1094415" cy="5303520"/>
          </a:xfrm>
          <a:prstGeom prst="rect">
            <a:avLst/>
          </a:prstGeom>
          <a:noFill/>
        </p:spPr>
        <p:txBody>
          <a:bodyPr wrap="square">
            <a:spAutoFit/>
          </a:bodyPr>
          <a:lstStyle/>
          <a:p>
            <a:pPr>
              <a:lnSpc>
                <a:spcPct val="120000"/>
              </a:lnSpc>
              <a:spcAft>
                <a:spcPts val="600"/>
              </a:spcAft>
            </a:pPr>
            <a:r>
              <a:rPr sz="1600" b="1" i="0">
                <a:solidFill>
                  <a:srgbClr val="0F6E7A"/>
                </a:solidFill>
                <a:latin typeface="Calibri"/>
              </a:rPr>
              <a:t>1.  The dashboard, in business language</a:t>
            </a:r>
          </a:p>
          <a:p>
            <a:pPr>
              <a:lnSpc>
                <a:spcPct val="120000"/>
              </a:lnSpc>
              <a:spcAft>
                <a:spcPts val="600"/>
              </a:spcAft>
            </a:pPr>
            <a:r>
              <a:rPr sz="1200" b="0" i="0">
                <a:solidFill>
                  <a:srgbClr val="333F52"/>
                </a:solidFill>
                <a:latin typeface="Calibri"/>
              </a:rPr>
              <a:t>We open the live dashboard. KPIs in pounds and percentages explain how much we earned, how accurate the model was, and how many clicks ended up converting. Daily and residual charts answer 'is the model right, and which direction does it err?' in one glance.</a:t>
            </a:r>
          </a:p>
          <a:p>
            <a:pPr>
              <a:lnSpc>
                <a:spcPct val="120000"/>
              </a:lnSpc>
              <a:spcAft>
                <a:spcPts val="600"/>
              </a:spcAft>
            </a:pPr>
            <a:r>
              <a:rPr sz="1600" b="1" i="0">
                <a:solidFill>
                  <a:srgbClr val="0F6E7A"/>
                </a:solidFill>
                <a:latin typeface="Calibri"/>
              </a:rPr>
              <a:t>2.  You drive the model — yourself</a:t>
            </a:r>
          </a:p>
          <a:p>
            <a:pPr>
              <a:lnSpc>
                <a:spcPct val="120000"/>
              </a:lnSpc>
              <a:spcAft>
                <a:spcPts val="600"/>
              </a:spcAft>
            </a:pPr>
            <a:r>
              <a:rPr sz="1200" b="0" i="0">
                <a:solidFill>
                  <a:srgbClr val="333F52"/>
                </a:solidFill>
                <a:latin typeface="Calibri"/>
              </a:rPr>
              <a:t>We hand you the keyboard. Describe a click in plain English — device, country, hour of day, search intent, user trust score, auction pressure, recent earnings, repeat visits — and press Predict. In under a second you see the predicted revenue, the model version that priced it, and the latency. Below it, a live pipeline trace lights up the five backend steps as they happen: validate, guardrails, AI model on Vertex, BigQuery stream, SHAP explanation.</a:t>
            </a:r>
          </a:p>
          <a:p>
            <a:pPr>
              <a:lnSpc>
                <a:spcPct val="120000"/>
              </a:lnSpc>
              <a:spcAft>
                <a:spcPts val="600"/>
              </a:spcAft>
            </a:pPr>
            <a:r>
              <a:rPr sz="1600" b="1" i="0">
                <a:solidFill>
                  <a:srgbClr val="0F6E7A"/>
                </a:solidFill>
                <a:latin typeface="Calibri"/>
              </a:rPr>
              <a:t>3.  Why the model said that</a:t>
            </a:r>
          </a:p>
          <a:p>
            <a:pPr>
              <a:lnSpc>
                <a:spcPct val="120000"/>
              </a:lnSpc>
              <a:spcAft>
                <a:spcPts val="600"/>
              </a:spcAft>
            </a:pPr>
            <a:r>
              <a:rPr sz="1200" b="0" i="0">
                <a:solidFill>
                  <a:srgbClr val="333F52"/>
                </a:solidFill>
                <a:latin typeface="Calibri"/>
              </a:rPr>
              <a:t>The same prediction renders a horizontal-bar attribution chart: green bars pushed the price up, red pushed it down, starting from the model's baseline. Every prediction is auditable, and the names on the chart are plain English ('User trust score', 'Recent 7-day earnings'), not engineering jargon.</a:t>
            </a:r>
          </a:p>
          <a:p>
            <a:pPr>
              <a:lnSpc>
                <a:spcPct val="120000"/>
              </a:lnSpc>
              <a:spcAft>
                <a:spcPts val="600"/>
              </a:spcAft>
            </a:pPr>
            <a:r>
              <a:rPr sz="1600" b="1" i="0">
                <a:solidFill>
                  <a:srgbClr val="0F6E7A"/>
                </a:solidFill>
                <a:latin typeface="Calibri"/>
              </a:rPr>
              <a:t>4.  The safety net, on cue</a:t>
            </a:r>
          </a:p>
          <a:p>
            <a:pPr>
              <a:lnSpc>
                <a:spcPct val="120000"/>
              </a:lnSpc>
              <a:spcAft>
                <a:spcPts val="600"/>
              </a:spcAft>
            </a:pPr>
            <a:r>
              <a:rPr sz="1200" b="0" i="0">
                <a:solidFill>
                  <a:srgbClr val="333F52"/>
                </a:solidFill>
                <a:latin typeface="Calibri"/>
              </a:rPr>
              <a:t>We send a deliberately malformed click. The service rejects it cleanly, the circuit-breaker counters tick on the model-health panel, and the request never reaches the model. No degradation visible to clean traffic.</a:t>
            </a:r>
          </a:p>
          <a:p>
            <a:pPr>
              <a:lnSpc>
                <a:spcPct val="120000"/>
              </a:lnSpc>
            </a:pPr>
            <a:r>
              <a:rPr sz="1000" b="0" i="1">
                <a:solidFill>
                  <a:srgbClr val="6B7380"/>
                </a:solidFill>
                <a:latin typeface="Calibri"/>
              </a:rPr>
              <a:t>Live dashboard  ·  https://dashboard-staging-794974391956.europe-west2.run.app</a:t>
            </a:r>
          </a:p>
        </p:txBody>
      </p:sp>
      <p:sp>
        <p:nvSpPr>
          <p:cNvPr id="5" name="Rectangle 4"/>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6" name="TextBox 5"/>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LOAD TEST, LIVE STAGING</a:t>
            </a:r>
          </a:p>
          <a:p>
            <a:r>
              <a:rPr sz="2400" b="1" i="0">
                <a:solidFill>
                  <a:srgbClr val="FFFFFF"/>
                </a:solidFill>
                <a:latin typeface="Calibri"/>
              </a:rPr>
              <a:t>Measured performance</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234440"/>
            <a:ext cx="1965960" cy="1417320"/>
          </a:xfrm>
          <a:prstGeom prst="roundRect">
            <a:avLst>
              <a:gd name="adj" fmla="val 6000"/>
            </a:avLst>
          </a:prstGeom>
          <a:solidFill>
            <a:srgbClr val="FFFFFF"/>
          </a:solidFill>
          <a:ln w="9525">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34440"/>
            <a:ext cx="1965960" cy="73152"/>
          </a:xfrm>
          <a:prstGeom prst="rect">
            <a:avLst/>
          </a:prstGeom>
          <a:solidFill>
            <a:srgbClr val="0F6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1965960" cy="640080"/>
          </a:xfrm>
          <a:prstGeom prst="rect">
            <a:avLst/>
          </a:prstGeom>
          <a:noFill/>
        </p:spPr>
        <p:txBody>
          <a:bodyPr wrap="none">
            <a:spAutoFit/>
          </a:bodyPr>
          <a:lstStyle/>
          <a:p>
            <a:pPr algn="ctr"/>
            <a:r>
              <a:rPr sz="2800" b="1" i="0">
                <a:solidFill>
                  <a:srgbClr val="0B1F3A"/>
                </a:solidFill>
                <a:latin typeface="Calibri"/>
              </a:rPr>
              <a:t>561 ms</a:t>
            </a:r>
          </a:p>
        </p:txBody>
      </p:sp>
      <p:sp>
        <p:nvSpPr>
          <p:cNvPr id="7" name="TextBox 6"/>
          <p:cNvSpPr txBox="1"/>
          <p:nvPr/>
        </p:nvSpPr>
        <p:spPr>
          <a:xfrm>
            <a:off x="548640" y="2103120"/>
            <a:ext cx="1965960" cy="457200"/>
          </a:xfrm>
          <a:prstGeom prst="rect">
            <a:avLst/>
          </a:prstGeom>
          <a:noFill/>
        </p:spPr>
        <p:txBody>
          <a:bodyPr wrap="none">
            <a:spAutoFit/>
          </a:bodyPr>
          <a:lstStyle/>
          <a:p>
            <a:pPr algn="ctr">
              <a:lnSpc>
                <a:spcPct val="110000"/>
              </a:lnSpc>
            </a:pPr>
            <a:r>
              <a:rPr sz="1100" b="0" i="0">
                <a:solidFill>
                  <a:srgbClr val="6B7380"/>
                </a:solidFill>
                <a:latin typeface="Calibri"/>
              </a:rPr>
              <a:t>Median (p50) /v1/score</a:t>
            </a:r>
          </a:p>
        </p:txBody>
      </p:sp>
      <p:sp>
        <p:nvSpPr>
          <p:cNvPr id="8" name="Rounded Rectangle 7"/>
          <p:cNvSpPr/>
          <p:nvPr/>
        </p:nvSpPr>
        <p:spPr>
          <a:xfrm>
            <a:off x="2697480" y="1234440"/>
            <a:ext cx="1965960" cy="1417320"/>
          </a:xfrm>
          <a:prstGeom prst="roundRect">
            <a:avLst>
              <a:gd name="adj" fmla="val 6000"/>
            </a:avLst>
          </a:prstGeom>
          <a:solidFill>
            <a:srgbClr val="FFFFFF"/>
          </a:solidFill>
          <a:ln w="9525">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697480" y="1234440"/>
            <a:ext cx="1965960" cy="73152"/>
          </a:xfrm>
          <a:prstGeom prst="rect">
            <a:avLst/>
          </a:prstGeom>
          <a:solidFill>
            <a:srgbClr val="1F8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463040"/>
            <a:ext cx="1965960" cy="640080"/>
          </a:xfrm>
          <a:prstGeom prst="rect">
            <a:avLst/>
          </a:prstGeom>
          <a:noFill/>
        </p:spPr>
        <p:txBody>
          <a:bodyPr wrap="none">
            <a:spAutoFit/>
          </a:bodyPr>
          <a:lstStyle/>
          <a:p>
            <a:pPr algn="ctr"/>
            <a:r>
              <a:rPr sz="2800" b="1" i="0">
                <a:solidFill>
                  <a:srgbClr val="0B1F3A"/>
                </a:solidFill>
                <a:latin typeface="Calibri"/>
              </a:rPr>
              <a:t>762 ms</a:t>
            </a:r>
          </a:p>
        </p:txBody>
      </p:sp>
      <p:sp>
        <p:nvSpPr>
          <p:cNvPr id="11" name="TextBox 10"/>
          <p:cNvSpPr txBox="1"/>
          <p:nvPr/>
        </p:nvSpPr>
        <p:spPr>
          <a:xfrm>
            <a:off x="2697480" y="2103120"/>
            <a:ext cx="1965960" cy="457200"/>
          </a:xfrm>
          <a:prstGeom prst="rect">
            <a:avLst/>
          </a:prstGeom>
          <a:noFill/>
        </p:spPr>
        <p:txBody>
          <a:bodyPr wrap="none">
            <a:spAutoFit/>
          </a:bodyPr>
          <a:lstStyle/>
          <a:p>
            <a:pPr algn="ctr">
              <a:lnSpc>
                <a:spcPct val="110000"/>
              </a:lnSpc>
            </a:pPr>
            <a:r>
              <a:rPr sz="1100" b="0" i="0">
                <a:solidFill>
                  <a:srgbClr val="6B7380"/>
                </a:solidFill>
                <a:latin typeface="Calibri"/>
              </a:rPr>
              <a:t>p95 /v1/score</a:t>
            </a:r>
          </a:p>
        </p:txBody>
      </p:sp>
      <p:sp>
        <p:nvSpPr>
          <p:cNvPr id="12" name="Rounded Rectangle 11"/>
          <p:cNvSpPr/>
          <p:nvPr/>
        </p:nvSpPr>
        <p:spPr>
          <a:xfrm>
            <a:off x="4846320" y="1234440"/>
            <a:ext cx="1965960" cy="1417320"/>
          </a:xfrm>
          <a:prstGeom prst="roundRect">
            <a:avLst>
              <a:gd name="adj" fmla="val 6000"/>
            </a:avLst>
          </a:prstGeom>
          <a:solidFill>
            <a:srgbClr val="FFFFFF"/>
          </a:solidFill>
          <a:ln w="9525">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846320" y="1234440"/>
            <a:ext cx="1965960" cy="73152"/>
          </a:xfrm>
          <a:prstGeom prst="rect">
            <a:avLst/>
          </a:prstGeom>
          <a:solidFill>
            <a:srgbClr val="0F6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463040"/>
            <a:ext cx="1965960" cy="640080"/>
          </a:xfrm>
          <a:prstGeom prst="rect">
            <a:avLst/>
          </a:prstGeom>
          <a:noFill/>
        </p:spPr>
        <p:txBody>
          <a:bodyPr wrap="none">
            <a:spAutoFit/>
          </a:bodyPr>
          <a:lstStyle/>
          <a:p>
            <a:pPr algn="ctr"/>
            <a:r>
              <a:rPr sz="2800" b="1" i="0">
                <a:solidFill>
                  <a:srgbClr val="0B1F3A"/>
                </a:solidFill>
                <a:latin typeface="Calibri"/>
              </a:rPr>
              <a:t>993 ms</a:t>
            </a:r>
          </a:p>
        </p:txBody>
      </p:sp>
      <p:sp>
        <p:nvSpPr>
          <p:cNvPr id="15" name="TextBox 14"/>
          <p:cNvSpPr txBox="1"/>
          <p:nvPr/>
        </p:nvSpPr>
        <p:spPr>
          <a:xfrm>
            <a:off x="4846320" y="2103120"/>
            <a:ext cx="1965960" cy="457200"/>
          </a:xfrm>
          <a:prstGeom prst="rect">
            <a:avLst/>
          </a:prstGeom>
          <a:noFill/>
        </p:spPr>
        <p:txBody>
          <a:bodyPr wrap="none">
            <a:spAutoFit/>
          </a:bodyPr>
          <a:lstStyle/>
          <a:p>
            <a:pPr algn="ctr">
              <a:lnSpc>
                <a:spcPct val="110000"/>
              </a:lnSpc>
            </a:pPr>
            <a:r>
              <a:rPr sz="1100" b="0" i="0">
                <a:solidFill>
                  <a:srgbClr val="6B7380"/>
                </a:solidFill>
                <a:latin typeface="Calibri"/>
              </a:rPr>
              <a:t>p99 /v1/score</a:t>
            </a:r>
          </a:p>
        </p:txBody>
      </p:sp>
      <p:sp>
        <p:nvSpPr>
          <p:cNvPr id="16" name="Rounded Rectangle 15"/>
          <p:cNvSpPr/>
          <p:nvPr/>
        </p:nvSpPr>
        <p:spPr>
          <a:xfrm>
            <a:off x="6995160" y="1234440"/>
            <a:ext cx="1965960" cy="1417320"/>
          </a:xfrm>
          <a:prstGeom prst="roundRect">
            <a:avLst>
              <a:gd name="adj" fmla="val 6000"/>
            </a:avLst>
          </a:prstGeom>
          <a:solidFill>
            <a:srgbClr val="FFFFFF"/>
          </a:solidFill>
          <a:ln w="9525">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95160" y="1234440"/>
            <a:ext cx="1965960" cy="73152"/>
          </a:xfrm>
          <a:prstGeom prst="rect">
            <a:avLst/>
          </a:prstGeom>
          <a:solidFill>
            <a:srgbClr val="1F8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60" y="1463040"/>
            <a:ext cx="1965960" cy="640080"/>
          </a:xfrm>
          <a:prstGeom prst="rect">
            <a:avLst/>
          </a:prstGeom>
          <a:noFill/>
        </p:spPr>
        <p:txBody>
          <a:bodyPr wrap="none">
            <a:spAutoFit/>
          </a:bodyPr>
          <a:lstStyle/>
          <a:p>
            <a:pPr algn="ctr"/>
            <a:r>
              <a:rPr sz="2800" b="1" i="0">
                <a:solidFill>
                  <a:srgbClr val="1F8A4F"/>
                </a:solidFill>
                <a:latin typeface="Calibri"/>
              </a:rPr>
              <a:t>100 %</a:t>
            </a:r>
          </a:p>
        </p:txBody>
      </p:sp>
      <p:sp>
        <p:nvSpPr>
          <p:cNvPr id="19" name="TextBox 18"/>
          <p:cNvSpPr txBox="1"/>
          <p:nvPr/>
        </p:nvSpPr>
        <p:spPr>
          <a:xfrm>
            <a:off x="6995160" y="2103120"/>
            <a:ext cx="1965960" cy="457200"/>
          </a:xfrm>
          <a:prstGeom prst="rect">
            <a:avLst/>
          </a:prstGeom>
          <a:noFill/>
        </p:spPr>
        <p:txBody>
          <a:bodyPr wrap="none">
            <a:spAutoFit/>
          </a:bodyPr>
          <a:lstStyle/>
          <a:p>
            <a:pPr algn="ctr">
              <a:lnSpc>
                <a:spcPct val="110000"/>
              </a:lnSpc>
            </a:pPr>
            <a:r>
              <a:rPr sz="1100" b="0" i="0">
                <a:solidFill>
                  <a:srgbClr val="6B7380"/>
                </a:solidFill>
                <a:latin typeface="Calibri"/>
              </a:rPr>
              <a:t>Success rate</a:t>
            </a:r>
          </a:p>
        </p:txBody>
      </p:sp>
      <p:sp>
        <p:nvSpPr>
          <p:cNvPr id="20" name="TextBox 19"/>
          <p:cNvSpPr txBox="1"/>
          <p:nvPr/>
        </p:nvSpPr>
        <p:spPr>
          <a:xfrm>
            <a:off x="548640" y="2834640"/>
            <a:ext cx="11094415" cy="5303520"/>
          </a:xfrm>
          <a:prstGeom prst="rect">
            <a:avLst/>
          </a:prstGeom>
          <a:noFill/>
        </p:spPr>
        <p:txBody>
          <a:bodyPr wrap="square">
            <a:spAutoFit/>
          </a:bodyPr>
          <a:lstStyle/>
          <a:p>
            <a:pPr>
              <a:lnSpc>
                <a:spcPct val="120000"/>
              </a:lnSpc>
              <a:spcAft>
                <a:spcPts val="600"/>
              </a:spcAft>
            </a:pPr>
            <a:r>
              <a:rPr sz="1700" b="1" i="0">
                <a:solidFill>
                  <a:srgbClr val="0F6E7A"/>
                </a:solidFill>
                <a:latin typeface="Calibri"/>
              </a:rPr>
              <a:t>Headroom against the SLO</a:t>
            </a:r>
          </a:p>
          <a:p>
            <a:pPr>
              <a:lnSpc>
                <a:spcPct val="120000"/>
              </a:lnSpc>
              <a:spcAft>
                <a:spcPts val="300"/>
              </a:spcAft>
            </a:pPr>
            <a:r>
              <a:rPr sz="1300" b="1" i="0">
                <a:solidFill>
                  <a:srgbClr val="D97306"/>
                </a:solidFill>
                <a:latin typeface="Calibri"/>
              </a:rPr>
              <a:t>•  </a:t>
            </a:r>
            <a:r>
              <a:rPr sz="1300" b="0" i="0">
                <a:solidFill>
                  <a:srgbClr val="333F52"/>
                </a:solidFill>
                <a:latin typeface="Calibri"/>
              </a:rPr>
              <a:t>Staging p95 latency budget is 1500 ms — observed 762 ms leaves roughly a 2× margin before alerts fire.</a:t>
            </a:r>
          </a:p>
          <a:p>
            <a:pPr>
              <a:lnSpc>
                <a:spcPct val="120000"/>
              </a:lnSpc>
              <a:spcAft>
                <a:spcPts val="300"/>
              </a:spcAft>
            </a:pPr>
            <a:r>
              <a:rPr sz="1300" b="1" i="0">
                <a:solidFill>
                  <a:srgbClr val="D97306"/>
                </a:solidFill>
                <a:latin typeface="Calibri"/>
              </a:rPr>
              <a:t>•  </a:t>
            </a:r>
            <a:r>
              <a:rPr sz="1300" b="0" i="0">
                <a:solidFill>
                  <a:srgbClr val="333F52"/>
                </a:solidFill>
                <a:latin typeface="Calibri"/>
              </a:rPr>
              <a:t>Zero errors at the tested rate; prior runs showed the service recovers cleanly under autoscaling load.</a:t>
            </a:r>
          </a:p>
          <a:p>
            <a:pPr>
              <a:lnSpc>
                <a:spcPct val="120000"/>
              </a:lnSpc>
              <a:spcAft>
                <a:spcPts val="300"/>
              </a:spcAft>
            </a:pPr>
            <a:r>
              <a:rPr sz="1300" b="1" i="0">
                <a:solidFill>
                  <a:srgbClr val="D97306"/>
                </a:solidFill>
                <a:latin typeface="Calibri"/>
              </a:rPr>
              <a:t>•  </a:t>
            </a:r>
            <a:r>
              <a:rPr sz="1300" b="0" i="0">
                <a:solidFill>
                  <a:srgbClr val="333F52"/>
                </a:solidFill>
                <a:latin typeface="Calibri"/>
              </a:rPr>
              <a:t>Production sizing has been pre-computed from these numbers — a larger Vertex machine and a minimum of two replicas keep the same headroom under client traffic.</a:t>
            </a:r>
          </a:p>
          <a:p>
            <a:pPr>
              <a:lnSpc>
                <a:spcPct val="120000"/>
              </a:lnSpc>
            </a:pPr>
            <a:r>
              <a:rPr sz="1100" b="0" i="1">
                <a:solidFill>
                  <a:srgbClr val="6B7380"/>
                </a:solidFill>
                <a:latin typeface="Calibri"/>
              </a:rPr>
              <a:t>Source: ops/perf/20260428T094507Z__v1_score.json  ·  tool: oha, 30s @ c=10  ·  europe-west2</a:t>
            </a:r>
          </a:p>
        </p:txBody>
      </p:sp>
      <p:sp>
        <p:nvSpPr>
          <p:cNvPr id="21" name="Rectangle 20"/>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22" name="TextBox 21"/>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WHAT RUNS UNDERNEATH THE DEMO</a:t>
            </a:r>
          </a:p>
          <a:p>
            <a:r>
              <a:rPr sz="2400" b="1" i="0">
                <a:solidFill>
                  <a:srgbClr val="FFFFFF"/>
                </a:solidFill>
                <a:latin typeface="Calibri"/>
              </a:rPr>
              <a:t>Production-grade engineering</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5486400" cy="5303520"/>
          </a:xfrm>
          <a:prstGeom prst="rect">
            <a:avLst/>
          </a:prstGeom>
          <a:noFill/>
        </p:spPr>
        <p:txBody>
          <a:bodyPr wrap="square">
            <a:spAutoFit/>
          </a:bodyPr>
          <a:lstStyle/>
          <a:p>
            <a:pPr>
              <a:lnSpc>
                <a:spcPct val="120000"/>
              </a:lnSpc>
              <a:spcAft>
                <a:spcPts val="600"/>
              </a:spcAft>
            </a:pPr>
            <a:r>
              <a:rPr sz="1700" b="1" i="0">
                <a:solidFill>
                  <a:srgbClr val="0F6E7A"/>
                </a:solidFill>
                <a:latin typeface="Calibri"/>
              </a:rPr>
              <a:t>Reliability</a:t>
            </a:r>
          </a:p>
          <a:p>
            <a:pPr>
              <a:lnSpc>
                <a:spcPct val="120000"/>
              </a:lnSpc>
              <a:spcAft>
                <a:spcPts val="300"/>
              </a:spcAft>
            </a:pPr>
            <a:r>
              <a:rPr sz="1300" b="1" i="0">
                <a:solidFill>
                  <a:srgbClr val="D97306"/>
                </a:solidFill>
                <a:latin typeface="Calibri"/>
              </a:rPr>
              <a:t>•  </a:t>
            </a:r>
            <a:r>
              <a:rPr sz="1300" b="0" i="0">
                <a:solidFill>
                  <a:srgbClr val="333F52"/>
                </a:solidFill>
                <a:latin typeface="Calibri"/>
              </a:rPr>
              <a:t>Circuit-breaker on the upstream model — fails fast and recovers automatically.</a:t>
            </a:r>
          </a:p>
          <a:p>
            <a:pPr>
              <a:lnSpc>
                <a:spcPct val="120000"/>
              </a:lnSpc>
              <a:spcAft>
                <a:spcPts val="300"/>
              </a:spcAft>
            </a:pPr>
            <a:r>
              <a:rPr sz="1300" b="1" i="0">
                <a:solidFill>
                  <a:srgbClr val="D97306"/>
                </a:solidFill>
                <a:latin typeface="Calibri"/>
              </a:rPr>
              <a:t>•  </a:t>
            </a:r>
            <a:r>
              <a:rPr sz="1300" b="0" i="0">
                <a:solidFill>
                  <a:srgbClr val="333F52"/>
                </a:solidFill>
                <a:latin typeface="Calibri"/>
              </a:rPr>
              <a:t>Configurable timeouts for model and warehouse calls — no request hangs indefinitely.</a:t>
            </a:r>
          </a:p>
          <a:p>
            <a:pPr>
              <a:lnSpc>
                <a:spcPct val="120000"/>
              </a:lnSpc>
              <a:spcAft>
                <a:spcPts val="300"/>
              </a:spcAft>
            </a:pPr>
            <a:r>
              <a:rPr sz="1300" b="1" i="0">
                <a:solidFill>
                  <a:srgbClr val="D97306"/>
                </a:solidFill>
                <a:latin typeface="Calibri"/>
              </a:rPr>
              <a:t>•  </a:t>
            </a:r>
            <a:r>
              <a:rPr sz="1300" b="0" i="0">
                <a:solidFill>
                  <a:srgbClr val="333F52"/>
                </a:solidFill>
                <a:latin typeface="Calibri"/>
              </a:rPr>
              <a:t>Negative-prediction clamp and input validation at the edge.</a:t>
            </a:r>
          </a:p>
          <a:p>
            <a:pPr>
              <a:lnSpc>
                <a:spcPct val="120000"/>
              </a:lnSpc>
              <a:spcAft>
                <a:spcPts val="300"/>
              </a:spcAft>
            </a:pPr>
            <a:r>
              <a:rPr sz="1300" b="1" i="0">
                <a:solidFill>
                  <a:srgbClr val="D97306"/>
                </a:solidFill>
                <a:latin typeface="Calibri"/>
              </a:rPr>
              <a:t>•  </a:t>
            </a:r>
            <a:r>
              <a:rPr sz="1300" b="0" i="0">
                <a:solidFill>
                  <a:srgbClr val="333F52"/>
                </a:solidFill>
                <a:latin typeface="Calibri"/>
              </a:rPr>
              <a:t>Anomaly window on null-rates flips the breaker before bad data reaches finance.</a:t>
            </a:r>
          </a:p>
        </p:txBody>
      </p:sp>
      <p:sp>
        <p:nvSpPr>
          <p:cNvPr id="5" name="TextBox 4"/>
          <p:cNvSpPr txBox="1"/>
          <p:nvPr/>
        </p:nvSpPr>
        <p:spPr>
          <a:xfrm>
            <a:off x="6400800" y="1143000"/>
            <a:ext cx="5486400" cy="5303520"/>
          </a:xfrm>
          <a:prstGeom prst="rect">
            <a:avLst/>
          </a:prstGeom>
          <a:noFill/>
        </p:spPr>
        <p:txBody>
          <a:bodyPr wrap="square">
            <a:spAutoFit/>
          </a:bodyPr>
          <a:lstStyle/>
          <a:p>
            <a:pPr>
              <a:lnSpc>
                <a:spcPct val="120000"/>
              </a:lnSpc>
              <a:spcAft>
                <a:spcPts val="600"/>
              </a:spcAft>
            </a:pPr>
            <a:r>
              <a:rPr sz="1700" b="1" i="0">
                <a:solidFill>
                  <a:srgbClr val="0F6E7A"/>
                </a:solidFill>
                <a:latin typeface="Calibri"/>
              </a:rPr>
              <a:t>Operability</a:t>
            </a:r>
          </a:p>
          <a:p>
            <a:pPr>
              <a:lnSpc>
                <a:spcPct val="120000"/>
              </a:lnSpc>
              <a:spcAft>
                <a:spcPts val="300"/>
              </a:spcAft>
            </a:pPr>
            <a:r>
              <a:rPr sz="1300" b="1" i="0">
                <a:solidFill>
                  <a:srgbClr val="D97306"/>
                </a:solidFill>
                <a:latin typeface="Calibri"/>
              </a:rPr>
              <a:t>•  </a:t>
            </a:r>
            <a:r>
              <a:rPr sz="1300" b="0" i="0">
                <a:solidFill>
                  <a:srgbClr val="333F52"/>
                </a:solidFill>
                <a:latin typeface="Calibri"/>
              </a:rPr>
              <a:t>Every change ships through GitHub Actions on tag push, gated by tests, type checks, and security scan.</a:t>
            </a:r>
          </a:p>
          <a:p>
            <a:pPr>
              <a:lnSpc>
                <a:spcPct val="120000"/>
              </a:lnSpc>
              <a:spcAft>
                <a:spcPts val="300"/>
              </a:spcAft>
            </a:pPr>
            <a:r>
              <a:rPr sz="1300" b="1" i="0">
                <a:solidFill>
                  <a:srgbClr val="D97306"/>
                </a:solidFill>
                <a:latin typeface="Calibri"/>
              </a:rPr>
              <a:t>•  </a:t>
            </a:r>
            <a:r>
              <a:rPr sz="1300" b="0" i="0">
                <a:solidFill>
                  <a:srgbClr val="333F52"/>
                </a:solidFill>
                <a:latin typeface="Calibri"/>
              </a:rPr>
              <a:t>Workload Identity Federation — no service-account keys to manage or rotate.</a:t>
            </a:r>
          </a:p>
          <a:p>
            <a:pPr>
              <a:lnSpc>
                <a:spcPct val="120000"/>
              </a:lnSpc>
              <a:spcAft>
                <a:spcPts val="300"/>
              </a:spcAft>
            </a:pPr>
            <a:r>
              <a:rPr sz="1300" b="1" i="0">
                <a:solidFill>
                  <a:srgbClr val="D97306"/>
                </a:solidFill>
                <a:latin typeface="Calibri"/>
              </a:rPr>
              <a:t>•  </a:t>
            </a:r>
            <a:r>
              <a:rPr sz="1300" b="0" i="0">
                <a:solidFill>
                  <a:srgbClr val="333F52"/>
                </a:solidFill>
                <a:latin typeface="Calibri"/>
              </a:rPr>
              <a:t>Cloud Monitoring alerts on latency, error rate, breaker trips, and anomaly state.</a:t>
            </a:r>
          </a:p>
          <a:p>
            <a:pPr>
              <a:lnSpc>
                <a:spcPct val="120000"/>
              </a:lnSpc>
              <a:spcAft>
                <a:spcPts val="300"/>
              </a:spcAft>
            </a:pPr>
            <a:r>
              <a:rPr sz="1300" b="1" i="0">
                <a:solidFill>
                  <a:srgbClr val="D97306"/>
                </a:solidFill>
                <a:latin typeface="Calibri"/>
              </a:rPr>
              <a:t>•  </a:t>
            </a:r>
            <a:r>
              <a:rPr sz="1300" b="0" i="0">
                <a:solidFill>
                  <a:srgbClr val="333F52"/>
                </a:solidFill>
                <a:latin typeface="Calibri"/>
              </a:rPr>
              <a:t>Runbooks committed for breaker reset, model rollback, secret rotation, and cost scale-down.</a:t>
            </a:r>
          </a:p>
        </p:txBody>
      </p:sp>
      <p:sp>
        <p:nvSpPr>
          <p:cNvPr id="6" name="Rectangle 5"/>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7" name="TextBox 6"/>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BUILT TO PASS REVIEW</a:t>
            </a:r>
          </a:p>
          <a:p>
            <a:r>
              <a:rPr sz="2400" b="1" i="0">
                <a:solidFill>
                  <a:srgbClr val="FFFFFF"/>
                </a:solidFill>
                <a:latin typeface="Calibri"/>
              </a:rPr>
              <a:t>Security and compliance posture</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1094415" cy="5303520"/>
          </a:xfrm>
          <a:prstGeom prst="rect">
            <a:avLst/>
          </a:prstGeom>
          <a:noFill/>
        </p:spPr>
        <p:txBody>
          <a:bodyPr wrap="square">
            <a:spAutoFit/>
          </a:bodyPr>
          <a:lstStyle/>
          <a:p>
            <a:pPr>
              <a:lnSpc>
                <a:spcPct val="120000"/>
              </a:lnSpc>
              <a:spcAft>
                <a:spcPts val="600"/>
              </a:spcAft>
            </a:pPr>
            <a:r>
              <a:rPr sz="1700" b="1" i="0">
                <a:solidFill>
                  <a:srgbClr val="0F6E7A"/>
                </a:solidFill>
                <a:latin typeface="Calibri"/>
              </a:rPr>
              <a:t>Identity and access</a:t>
            </a:r>
          </a:p>
          <a:p>
            <a:pPr>
              <a:lnSpc>
                <a:spcPct val="120000"/>
              </a:lnSpc>
              <a:spcAft>
                <a:spcPts val="300"/>
              </a:spcAft>
            </a:pPr>
            <a:r>
              <a:rPr sz="1300" b="1" i="0">
                <a:solidFill>
                  <a:srgbClr val="D97306"/>
                </a:solidFill>
                <a:latin typeface="Calibri"/>
              </a:rPr>
              <a:t>•  </a:t>
            </a:r>
            <a:r>
              <a:rPr sz="1300" b="0" i="0">
                <a:solidFill>
                  <a:srgbClr val="333F52"/>
                </a:solidFill>
                <a:latin typeface="Calibri"/>
              </a:rPr>
              <a:t>Per-service service accounts; least-privilege IAM encoded in Terraform — every grant is reviewable in git.</a:t>
            </a:r>
          </a:p>
          <a:p>
            <a:pPr>
              <a:lnSpc>
                <a:spcPct val="120000"/>
              </a:lnSpc>
              <a:spcAft>
                <a:spcPts val="300"/>
              </a:spcAft>
            </a:pPr>
            <a:r>
              <a:rPr sz="1300" b="1" i="0">
                <a:solidFill>
                  <a:srgbClr val="D97306"/>
                </a:solidFill>
                <a:latin typeface="Calibri"/>
              </a:rPr>
              <a:t>•  </a:t>
            </a:r>
            <a:r>
              <a:rPr sz="1300" b="0" i="0">
                <a:solidFill>
                  <a:srgbClr val="333F52"/>
                </a:solidFill>
                <a:latin typeface="Calibri"/>
              </a:rPr>
              <a:t>No long-lived secrets in CI: GitHub OIDC federates into Google Cloud via Workload Identity.</a:t>
            </a:r>
          </a:p>
          <a:p>
            <a:pPr>
              <a:lnSpc>
                <a:spcPct val="120000"/>
              </a:lnSpc>
              <a:spcAft>
                <a:spcPts val="300"/>
              </a:spcAft>
            </a:pPr>
            <a:r>
              <a:rPr sz="1300" b="1" i="0">
                <a:solidFill>
                  <a:srgbClr val="D97306"/>
                </a:solidFill>
                <a:latin typeface="Calibri"/>
              </a:rPr>
              <a:t>•  </a:t>
            </a:r>
            <a:r>
              <a:rPr sz="1300" b="0" i="0">
                <a:solidFill>
                  <a:srgbClr val="333F52"/>
                </a:solidFill>
                <a:latin typeface="Calibri"/>
              </a:rPr>
              <a:t>Secrets in Secret Manager with versioning; rotation is a runbooked one-liner.</a:t>
            </a:r>
          </a:p>
          <a:p>
            <a:pPr>
              <a:lnSpc>
                <a:spcPct val="120000"/>
              </a:lnSpc>
              <a:spcAft>
                <a:spcPts val="600"/>
              </a:spcAft>
            </a:pPr>
            <a:r>
              <a:rPr sz="1700" b="1" i="0">
                <a:solidFill>
                  <a:srgbClr val="0F6E7A"/>
                </a:solidFill>
                <a:latin typeface="Calibri"/>
              </a:rPr>
              <a:t>Data protection</a:t>
            </a:r>
          </a:p>
          <a:p>
            <a:pPr>
              <a:lnSpc>
                <a:spcPct val="120000"/>
              </a:lnSpc>
              <a:spcAft>
                <a:spcPts val="300"/>
              </a:spcAft>
            </a:pPr>
            <a:r>
              <a:rPr sz="1300" b="1" i="0">
                <a:solidFill>
                  <a:srgbClr val="D97306"/>
                </a:solidFill>
                <a:latin typeface="Calibri"/>
              </a:rPr>
              <a:t>•  </a:t>
            </a:r>
            <a:r>
              <a:rPr sz="1300" b="0" i="0">
                <a:solidFill>
                  <a:srgbClr val="333F52"/>
                </a:solidFill>
                <a:latin typeface="Calibri"/>
              </a:rPr>
              <a:t>All data resident in europe-west2 (London). No US-region replicas.</a:t>
            </a:r>
          </a:p>
          <a:p>
            <a:pPr>
              <a:lnSpc>
                <a:spcPct val="120000"/>
              </a:lnSpc>
              <a:spcAft>
                <a:spcPts val="300"/>
              </a:spcAft>
            </a:pPr>
            <a:r>
              <a:rPr sz="1300" b="1" i="0">
                <a:solidFill>
                  <a:srgbClr val="D97306"/>
                </a:solidFill>
                <a:latin typeface="Calibri"/>
              </a:rPr>
              <a:t>•  </a:t>
            </a:r>
            <a:r>
              <a:rPr sz="1300" b="0" i="0">
                <a:solidFill>
                  <a:srgbClr val="333F52"/>
                </a:solidFill>
                <a:latin typeface="Calibri"/>
              </a:rPr>
              <a:t>Google-managed encryption keys by default; customer-managed keys (CMEK) available on request.</a:t>
            </a:r>
          </a:p>
          <a:p>
            <a:pPr>
              <a:lnSpc>
                <a:spcPct val="120000"/>
              </a:lnSpc>
              <a:spcAft>
                <a:spcPts val="300"/>
              </a:spcAft>
            </a:pPr>
            <a:r>
              <a:rPr sz="1300" b="1" i="0">
                <a:solidFill>
                  <a:srgbClr val="D97306"/>
                </a:solidFill>
                <a:latin typeface="Calibri"/>
              </a:rPr>
              <a:t>•  </a:t>
            </a:r>
            <a:r>
              <a:rPr sz="1300" b="0" i="0">
                <a:solidFill>
                  <a:srgbClr val="333F52"/>
                </a:solidFill>
                <a:latin typeface="Calibri"/>
              </a:rPr>
              <a:t>Predictions are persisted to BigQuery with the same access controls as your existing analytics estate.</a:t>
            </a:r>
          </a:p>
          <a:p>
            <a:pPr>
              <a:lnSpc>
                <a:spcPct val="120000"/>
              </a:lnSpc>
              <a:spcAft>
                <a:spcPts val="600"/>
              </a:spcAft>
            </a:pPr>
            <a:r>
              <a:rPr sz="1700" b="1" i="0">
                <a:solidFill>
                  <a:srgbClr val="0F6E7A"/>
                </a:solidFill>
                <a:latin typeface="Calibri"/>
              </a:rPr>
              <a:t>Supply chain</a:t>
            </a:r>
          </a:p>
          <a:p>
            <a:pPr>
              <a:lnSpc>
                <a:spcPct val="120000"/>
              </a:lnSpc>
              <a:spcAft>
                <a:spcPts val="300"/>
              </a:spcAft>
            </a:pPr>
            <a:r>
              <a:rPr sz="1300" b="1" i="0">
                <a:solidFill>
                  <a:srgbClr val="D97306"/>
                </a:solidFill>
                <a:latin typeface="Calibri"/>
              </a:rPr>
              <a:t>•  </a:t>
            </a:r>
            <a:r>
              <a:rPr sz="1300" b="0" i="0">
                <a:solidFill>
                  <a:srgbClr val="333F52"/>
                </a:solidFill>
                <a:latin typeface="Calibri"/>
              </a:rPr>
              <a:t>Container images pinned by digest; dependency scanning runs on every PR; no third-party model weights are downloaded at runtime.</a:t>
            </a:r>
          </a:p>
        </p:txBody>
      </p:sp>
      <p:sp>
        <p:nvSpPr>
          <p:cNvPr id="5" name="Rectangle 4"/>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6" name="TextBox 5"/>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FROM YOUR LEDGER TO A LIVE PREDICTION</a:t>
            </a:r>
          </a:p>
          <a:p>
            <a:r>
              <a:rPr sz="2400" b="1" i="0">
                <a:solidFill>
                  <a:srgbClr val="FFFFFF"/>
                </a:solidFill>
                <a:latin typeface="Calibri"/>
              </a:rPr>
              <a:t>Data and model lifecycle</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1094415" cy="5303520"/>
          </a:xfrm>
          <a:prstGeom prst="rect">
            <a:avLst/>
          </a:prstGeom>
          <a:noFill/>
        </p:spPr>
        <p:txBody>
          <a:bodyPr wrap="square">
            <a:spAutoFit/>
          </a:bodyPr>
          <a:lstStyle/>
          <a:p>
            <a:pPr>
              <a:lnSpc>
                <a:spcPct val="120000"/>
              </a:lnSpc>
              <a:spcAft>
                <a:spcPts val="600"/>
              </a:spcAft>
            </a:pPr>
            <a:r>
              <a:rPr sz="1700" b="1" i="0">
                <a:solidFill>
                  <a:srgbClr val="0F6E7A"/>
                </a:solidFill>
                <a:latin typeface="Calibri"/>
              </a:rPr>
              <a:t>Ingestion</a:t>
            </a:r>
          </a:p>
          <a:p>
            <a:pPr>
              <a:lnSpc>
                <a:spcPct val="120000"/>
              </a:lnSpc>
              <a:spcAft>
                <a:spcPts val="300"/>
              </a:spcAft>
            </a:pPr>
            <a:r>
              <a:rPr sz="1300" b="1" i="0">
                <a:solidFill>
                  <a:srgbClr val="D97306"/>
                </a:solidFill>
                <a:latin typeface="Calibri"/>
              </a:rPr>
              <a:t>•  </a:t>
            </a:r>
            <a:r>
              <a:rPr sz="1300" b="0" i="0">
                <a:solidFill>
                  <a:srgbClr val="333F52"/>
                </a:solidFill>
                <a:latin typeface="Calibri"/>
              </a:rPr>
              <a:t>Real click events arrive via Pub/Sub or push-down query into BigQuery — schema and freshness are agreed in the data contract.</a:t>
            </a:r>
          </a:p>
          <a:p>
            <a:pPr>
              <a:lnSpc>
                <a:spcPct val="120000"/>
              </a:lnSpc>
              <a:spcAft>
                <a:spcPts val="300"/>
              </a:spcAft>
            </a:pPr>
            <a:r>
              <a:rPr sz="1300" b="1" i="0">
                <a:solidFill>
                  <a:srgbClr val="D97306"/>
                </a:solidFill>
                <a:latin typeface="Calibri"/>
              </a:rPr>
              <a:t>•  </a:t>
            </a:r>
            <a:r>
              <a:rPr sz="1300" b="0" i="0">
                <a:solidFill>
                  <a:srgbClr val="333F52"/>
                </a:solidFill>
                <a:latin typeface="Calibri"/>
              </a:rPr>
              <a:t>Sales-ledger data is loaded via scheduled query or transfer service from the client source of truth.</a:t>
            </a:r>
          </a:p>
          <a:p>
            <a:pPr>
              <a:lnSpc>
                <a:spcPct val="120000"/>
              </a:lnSpc>
              <a:spcAft>
                <a:spcPts val="600"/>
              </a:spcAft>
            </a:pPr>
            <a:r>
              <a:rPr sz="1700" b="1" i="0">
                <a:solidFill>
                  <a:srgbClr val="0F6E7A"/>
                </a:solidFill>
                <a:latin typeface="Calibri"/>
              </a:rPr>
              <a:t>Training</a:t>
            </a:r>
          </a:p>
          <a:p>
            <a:pPr>
              <a:lnSpc>
                <a:spcPct val="120000"/>
              </a:lnSpc>
              <a:spcAft>
                <a:spcPts val="300"/>
              </a:spcAft>
            </a:pPr>
            <a:r>
              <a:rPr sz="1300" b="1" i="0">
                <a:solidFill>
                  <a:srgbClr val="D97306"/>
                </a:solidFill>
                <a:latin typeface="Calibri"/>
              </a:rPr>
              <a:t>•  </a:t>
            </a:r>
            <a:r>
              <a:rPr sz="1300" b="0" i="0">
                <a:solidFill>
                  <a:srgbClr val="333F52"/>
                </a:solidFill>
                <a:latin typeface="Calibri"/>
              </a:rPr>
              <a:t>Model is trained in a Vertex AI pipeline run from the same monorepo — fully reproducible from a commit.</a:t>
            </a:r>
          </a:p>
          <a:p>
            <a:pPr>
              <a:lnSpc>
                <a:spcPct val="120000"/>
              </a:lnSpc>
              <a:spcAft>
                <a:spcPts val="300"/>
              </a:spcAft>
            </a:pPr>
            <a:r>
              <a:rPr sz="1300" b="1" i="0">
                <a:solidFill>
                  <a:srgbClr val="D97306"/>
                </a:solidFill>
                <a:latin typeface="Calibri"/>
              </a:rPr>
              <a:t>•  </a:t>
            </a:r>
            <a:r>
              <a:rPr sz="1300" b="0" i="0">
                <a:solidFill>
                  <a:srgbClr val="333F52"/>
                </a:solidFill>
                <a:latin typeface="Calibri"/>
              </a:rPr>
              <a:t>Each model version is registered in the Vertex Model Registry; we never deploy an unversioned artifact.</a:t>
            </a:r>
          </a:p>
          <a:p>
            <a:pPr>
              <a:lnSpc>
                <a:spcPct val="120000"/>
              </a:lnSpc>
              <a:spcAft>
                <a:spcPts val="600"/>
              </a:spcAft>
            </a:pPr>
            <a:r>
              <a:rPr sz="1700" b="1" i="0">
                <a:solidFill>
                  <a:srgbClr val="0F6E7A"/>
                </a:solidFill>
                <a:latin typeface="Calibri"/>
              </a:rPr>
              <a:t>Release</a:t>
            </a:r>
          </a:p>
          <a:p>
            <a:pPr>
              <a:lnSpc>
                <a:spcPct val="120000"/>
              </a:lnSpc>
              <a:spcAft>
                <a:spcPts val="300"/>
              </a:spcAft>
            </a:pPr>
            <a:r>
              <a:rPr sz="1300" b="1" i="0">
                <a:solidFill>
                  <a:srgbClr val="D97306"/>
                </a:solidFill>
                <a:latin typeface="Calibri"/>
              </a:rPr>
              <a:t>•  </a:t>
            </a:r>
            <a:r>
              <a:rPr sz="1300" b="0" i="0">
                <a:solidFill>
                  <a:srgbClr val="333F52"/>
                </a:solidFill>
                <a:latin typeface="Calibri"/>
              </a:rPr>
              <a:t>New versions deploy behind a traffic split — 10% canary, then ramp — with automatic rollback if breaker trip rates spike.</a:t>
            </a:r>
          </a:p>
          <a:p>
            <a:pPr>
              <a:lnSpc>
                <a:spcPct val="120000"/>
              </a:lnSpc>
              <a:spcAft>
                <a:spcPts val="300"/>
              </a:spcAft>
            </a:pPr>
            <a:r>
              <a:rPr sz="1300" b="1" i="0">
                <a:solidFill>
                  <a:srgbClr val="D97306"/>
                </a:solidFill>
                <a:latin typeface="Calibri"/>
              </a:rPr>
              <a:t>•  </a:t>
            </a:r>
            <a:r>
              <a:rPr sz="1300" b="0" i="0">
                <a:solidFill>
                  <a:srgbClr val="333F52"/>
                </a:solidFill>
                <a:latin typeface="Calibri"/>
              </a:rPr>
              <a:t>Drift monitoring on inputs (PSI) and on outputs vs the reconciled ledger keeps the model honest in production.</a:t>
            </a:r>
          </a:p>
          <a:p>
            <a:pPr>
              <a:lnSpc>
                <a:spcPct val="120000"/>
              </a:lnSpc>
            </a:pPr>
            <a:r>
              <a:rPr sz="1100" b="0" i="1">
                <a:solidFill>
                  <a:srgbClr val="6B7380"/>
                </a:solidFill>
                <a:latin typeface="Calibri"/>
              </a:rPr>
              <a:t>Today's demo runs against a model trained on a synthetic dataset that mirrors the agreed schema. Retraining on real data is the first work item once the data contract is signed.</a:t>
            </a:r>
          </a:p>
        </p:txBody>
      </p:sp>
      <p:sp>
        <p:nvSpPr>
          <p:cNvPr id="5" name="Rectangle 4"/>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6" name="TextBox 5"/>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RUN-BOOK READY, ON DAY ONE</a:t>
            </a:r>
          </a:p>
          <a:p>
            <a:r>
              <a:rPr sz="2400" b="1" i="0">
                <a:solidFill>
                  <a:srgbClr val="FFFFFF"/>
                </a:solidFill>
                <a:latin typeface="Calibri"/>
              </a:rPr>
              <a:t>Operational readiness</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1094415" cy="5303520"/>
          </a:xfrm>
          <a:prstGeom prst="rect">
            <a:avLst/>
          </a:prstGeom>
          <a:noFill/>
        </p:spPr>
        <p:txBody>
          <a:bodyPr wrap="square">
            <a:spAutoFit/>
          </a:bodyPr>
          <a:lstStyle/>
          <a:p>
            <a:pPr>
              <a:lnSpc>
                <a:spcPct val="120000"/>
              </a:lnSpc>
              <a:spcAft>
                <a:spcPts val="600"/>
              </a:spcAft>
            </a:pPr>
            <a:r>
              <a:rPr sz="1700" b="1" i="0">
                <a:solidFill>
                  <a:srgbClr val="0F6E7A"/>
                </a:solidFill>
                <a:latin typeface="Calibri"/>
              </a:rPr>
              <a:t>Service-level objectives</a:t>
            </a:r>
          </a:p>
          <a:p>
            <a:pPr>
              <a:lnSpc>
                <a:spcPct val="120000"/>
              </a:lnSpc>
              <a:spcAft>
                <a:spcPts val="300"/>
              </a:spcAft>
            </a:pPr>
            <a:r>
              <a:rPr sz="1300" b="1" i="0">
                <a:solidFill>
                  <a:srgbClr val="D97306"/>
                </a:solidFill>
                <a:latin typeface="Calibri"/>
              </a:rPr>
              <a:t>•  </a:t>
            </a:r>
            <a:r>
              <a:rPr sz="1300" b="0" i="0">
                <a:solidFill>
                  <a:srgbClr val="333F52"/>
                </a:solidFill>
                <a:latin typeface="Calibri"/>
              </a:rPr>
              <a:t>Availability target 99.5% on /v1/score; latency SLO sized from the live load profile.</a:t>
            </a:r>
          </a:p>
          <a:p>
            <a:pPr>
              <a:lnSpc>
                <a:spcPct val="120000"/>
              </a:lnSpc>
              <a:spcAft>
                <a:spcPts val="300"/>
              </a:spcAft>
            </a:pPr>
            <a:r>
              <a:rPr sz="1300" b="1" i="0">
                <a:solidFill>
                  <a:srgbClr val="D97306"/>
                </a:solidFill>
                <a:latin typeface="Calibri"/>
              </a:rPr>
              <a:t>•  </a:t>
            </a:r>
            <a:r>
              <a:rPr sz="1300" b="0" i="0">
                <a:solidFill>
                  <a:srgbClr val="333F52"/>
                </a:solidFill>
                <a:latin typeface="Calibri"/>
              </a:rPr>
              <a:t>Error-budget policy: breaches automatically open an incident channel.</a:t>
            </a:r>
          </a:p>
          <a:p>
            <a:pPr>
              <a:lnSpc>
                <a:spcPct val="120000"/>
              </a:lnSpc>
              <a:spcAft>
                <a:spcPts val="600"/>
              </a:spcAft>
            </a:pPr>
            <a:r>
              <a:rPr sz="1700" b="1" i="0">
                <a:solidFill>
                  <a:srgbClr val="0F6E7A"/>
                </a:solidFill>
                <a:latin typeface="Calibri"/>
              </a:rPr>
              <a:t>Observability</a:t>
            </a:r>
          </a:p>
          <a:p>
            <a:pPr>
              <a:lnSpc>
                <a:spcPct val="120000"/>
              </a:lnSpc>
              <a:spcAft>
                <a:spcPts val="300"/>
              </a:spcAft>
            </a:pPr>
            <a:r>
              <a:rPr sz="1300" b="1" i="0">
                <a:solidFill>
                  <a:srgbClr val="D97306"/>
                </a:solidFill>
                <a:latin typeface="Calibri"/>
              </a:rPr>
              <a:t>•  </a:t>
            </a:r>
            <a:r>
              <a:rPr sz="1300" b="0" i="0">
                <a:solidFill>
                  <a:srgbClr val="333F52"/>
                </a:solidFill>
                <a:latin typeface="Calibri"/>
              </a:rPr>
              <a:t>Cloud Logging, Cloud Trace, and Cloud Monitoring out of the box — one pane of glass for the on-call engineer.</a:t>
            </a:r>
          </a:p>
          <a:p>
            <a:pPr>
              <a:lnSpc>
                <a:spcPct val="120000"/>
              </a:lnSpc>
              <a:spcAft>
                <a:spcPts val="300"/>
              </a:spcAft>
            </a:pPr>
            <a:r>
              <a:rPr sz="1300" b="1" i="0">
                <a:solidFill>
                  <a:srgbClr val="D97306"/>
                </a:solidFill>
                <a:latin typeface="Calibri"/>
              </a:rPr>
              <a:t>•  </a:t>
            </a:r>
            <a:r>
              <a:rPr sz="1300" b="0" i="0">
                <a:solidFill>
                  <a:srgbClr val="333F52"/>
                </a:solidFill>
                <a:latin typeface="Calibri"/>
              </a:rPr>
              <a:t>Four alert policies pre-wired: latency, error rate, breaker trips, anomaly state.</a:t>
            </a:r>
          </a:p>
          <a:p>
            <a:pPr>
              <a:lnSpc>
                <a:spcPct val="120000"/>
              </a:lnSpc>
              <a:spcAft>
                <a:spcPts val="600"/>
              </a:spcAft>
            </a:pPr>
            <a:r>
              <a:rPr sz="1700" b="1" i="0">
                <a:solidFill>
                  <a:srgbClr val="0F6E7A"/>
                </a:solidFill>
                <a:latin typeface="Calibri"/>
              </a:rPr>
              <a:t>Runbooks committed to the repository</a:t>
            </a:r>
          </a:p>
          <a:p>
            <a:pPr>
              <a:lnSpc>
                <a:spcPct val="120000"/>
              </a:lnSpc>
              <a:spcAft>
                <a:spcPts val="300"/>
              </a:spcAft>
            </a:pPr>
            <a:r>
              <a:rPr sz="1300" b="1" i="0">
                <a:solidFill>
                  <a:srgbClr val="D97306"/>
                </a:solidFill>
                <a:latin typeface="Calibri"/>
              </a:rPr>
              <a:t>•  </a:t>
            </a:r>
            <a:r>
              <a:rPr sz="1300" b="0" i="0">
                <a:solidFill>
                  <a:srgbClr val="333F52"/>
                </a:solidFill>
                <a:latin typeface="Calibri"/>
              </a:rPr>
              <a:t>Reset the breaker · Roll back a model version · Scale Vertex to zero for cost · Rotate a secret · Migrate the BigQuery schema.</a:t>
            </a:r>
          </a:p>
          <a:p>
            <a:pPr>
              <a:lnSpc>
                <a:spcPct val="120000"/>
              </a:lnSpc>
              <a:spcAft>
                <a:spcPts val="600"/>
              </a:spcAft>
            </a:pPr>
            <a:r>
              <a:rPr sz="1700" b="1" i="0">
                <a:solidFill>
                  <a:srgbClr val="0F6E7A"/>
                </a:solidFill>
                <a:latin typeface="Calibri"/>
              </a:rPr>
              <a:t>Rollback</a:t>
            </a:r>
          </a:p>
          <a:p>
            <a:pPr>
              <a:lnSpc>
                <a:spcPct val="120000"/>
              </a:lnSpc>
              <a:spcAft>
                <a:spcPts val="300"/>
              </a:spcAft>
            </a:pPr>
            <a:r>
              <a:rPr sz="1300" b="1" i="0">
                <a:solidFill>
                  <a:srgbClr val="D97306"/>
                </a:solidFill>
                <a:latin typeface="Calibri"/>
              </a:rPr>
              <a:t>•  </a:t>
            </a:r>
            <a:r>
              <a:rPr sz="1300" b="0" i="0">
                <a:solidFill>
                  <a:srgbClr val="333F52"/>
                </a:solidFill>
                <a:latin typeface="Calibri"/>
              </a:rPr>
              <a:t>Vertex traffic-split rollback to the previous model version is a single command; Cloud Run revisions are pinned and revertible.</a:t>
            </a:r>
          </a:p>
        </p:txBody>
      </p:sp>
      <p:sp>
        <p:nvSpPr>
          <p:cNvPr id="5" name="Rectangle 4"/>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6" name="TextBox 5"/>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FROM HERE TO PRODUCTION</a:t>
            </a:r>
          </a:p>
          <a:p>
            <a:r>
              <a:rPr sz="2400" b="1" i="0">
                <a:solidFill>
                  <a:srgbClr val="FFFFFF"/>
                </a:solidFill>
                <a:latin typeface="Calibri"/>
              </a:rPr>
              <a:t>Delivery roadmap</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188720"/>
            <a:ext cx="3840480" cy="3657600"/>
          </a:xfrm>
          <a:prstGeom prst="roundRect">
            <a:avLst>
              <a:gd name="adj" fmla="val 5000"/>
            </a:avLst>
          </a:prstGeom>
          <a:solidFill>
            <a:srgbClr val="FFFFFF"/>
          </a:solidFill>
          <a:ln w="9525">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188720"/>
            <a:ext cx="3840480" cy="502920"/>
          </a:xfrm>
          <a:prstGeom prst="rect">
            <a:avLst/>
          </a:prstGeom>
          <a:solidFill>
            <a:srgbClr val="1F8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52728"/>
            <a:ext cx="3474720" cy="457200"/>
          </a:xfrm>
          <a:prstGeom prst="rect">
            <a:avLst/>
          </a:prstGeom>
          <a:noFill/>
        </p:spPr>
        <p:txBody>
          <a:bodyPr wrap="none">
            <a:spAutoFit/>
          </a:bodyPr>
          <a:lstStyle/>
          <a:p>
            <a:r>
              <a:rPr sz="1100" b="1" i="0">
                <a:solidFill>
                  <a:srgbClr val="FFFFFF"/>
                </a:solidFill>
                <a:latin typeface="Calibri"/>
              </a:rPr>
              <a:t>Phase 1</a:t>
            </a:r>
          </a:p>
          <a:p>
            <a:r>
              <a:rPr sz="1500" b="1" i="0">
                <a:solidFill>
                  <a:srgbClr val="FFFFFF"/>
                </a:solidFill>
                <a:latin typeface="Calibri"/>
              </a:rPr>
              <a:t>Staging hardened</a:t>
            </a:r>
          </a:p>
        </p:txBody>
      </p:sp>
      <p:sp>
        <p:nvSpPr>
          <p:cNvPr id="7" name="TextBox 6"/>
          <p:cNvSpPr txBox="1"/>
          <p:nvPr/>
        </p:nvSpPr>
        <p:spPr>
          <a:xfrm>
            <a:off x="685800" y="1874520"/>
            <a:ext cx="3474720" cy="274320"/>
          </a:xfrm>
          <a:prstGeom prst="rect">
            <a:avLst/>
          </a:prstGeom>
          <a:noFill/>
        </p:spPr>
        <p:txBody>
          <a:bodyPr wrap="none">
            <a:spAutoFit/>
          </a:bodyPr>
          <a:lstStyle/>
          <a:p>
            <a:r>
              <a:rPr sz="1000" b="1" i="0">
                <a:solidFill>
                  <a:srgbClr val="1F8A4F"/>
                </a:solidFill>
                <a:latin typeface="Calibri"/>
              </a:rPr>
              <a:t>COMPLETE</a:t>
            </a:r>
          </a:p>
        </p:txBody>
      </p:sp>
      <p:sp>
        <p:nvSpPr>
          <p:cNvPr id="8" name="TextBox 7"/>
          <p:cNvSpPr txBox="1"/>
          <p:nvPr/>
        </p:nvSpPr>
        <p:spPr>
          <a:xfrm>
            <a:off x="731520" y="2240280"/>
            <a:ext cx="3383280" cy="2468880"/>
          </a:xfrm>
          <a:prstGeom prst="rect">
            <a:avLst/>
          </a:prstGeom>
          <a:noFill/>
        </p:spPr>
        <p:txBody>
          <a:bodyPr wrap="square">
            <a:spAutoFit/>
          </a:bodyPr>
          <a:lstStyle/>
          <a:p>
            <a:pPr>
              <a:lnSpc>
                <a:spcPct val="125000"/>
              </a:lnSpc>
            </a:pPr>
            <a:r>
              <a:rPr sz="1200" b="1" i="0">
                <a:solidFill>
                  <a:srgbClr val="1F8A4F"/>
                </a:solidFill>
                <a:latin typeface="Calibri"/>
              </a:rPr>
              <a:t>✓  </a:t>
            </a:r>
            <a:r>
              <a:rPr sz="1200" b="0" i="0">
                <a:solidFill>
                  <a:srgbClr val="333F52"/>
                </a:solidFill>
                <a:latin typeface="Calibri"/>
              </a:rPr>
              <a:t>Real explain path live</a:t>
            </a:r>
          </a:p>
          <a:p>
            <a:pPr>
              <a:lnSpc>
                <a:spcPct val="125000"/>
              </a:lnSpc>
            </a:pPr>
            <a:r>
              <a:rPr sz="1200" b="1" i="0">
                <a:solidFill>
                  <a:srgbClr val="1F8A4F"/>
                </a:solidFill>
                <a:latin typeface="Calibri"/>
              </a:rPr>
              <a:t>✓  </a:t>
            </a:r>
            <a:r>
              <a:rPr sz="1200" b="0" i="0">
                <a:solidFill>
                  <a:srgbClr val="333F52"/>
                </a:solidFill>
                <a:latin typeface="Calibri"/>
              </a:rPr>
              <a:t>Sliding anomaly window</a:t>
            </a:r>
          </a:p>
          <a:p>
            <a:pPr>
              <a:lnSpc>
                <a:spcPct val="125000"/>
              </a:lnSpc>
            </a:pPr>
            <a:r>
              <a:rPr sz="1200" b="1" i="0">
                <a:solidFill>
                  <a:srgbClr val="1F8A4F"/>
                </a:solidFill>
                <a:latin typeface="Calibri"/>
              </a:rPr>
              <a:t>✓  </a:t>
            </a:r>
            <a:r>
              <a:rPr sz="1200" b="0" i="0">
                <a:solidFill>
                  <a:srgbClr val="333F52"/>
                </a:solidFill>
                <a:latin typeface="Calibri"/>
              </a:rPr>
              <a:t>IaC for IAM</a:t>
            </a:r>
          </a:p>
          <a:p>
            <a:pPr>
              <a:lnSpc>
                <a:spcPct val="125000"/>
              </a:lnSpc>
            </a:pPr>
            <a:r>
              <a:rPr sz="1200" b="1" i="0">
                <a:solidFill>
                  <a:srgbClr val="1F8A4F"/>
                </a:solidFill>
                <a:latin typeface="Calibri"/>
              </a:rPr>
              <a:t>✓  </a:t>
            </a:r>
            <a:r>
              <a:rPr sz="1200" b="0" i="0">
                <a:solidFill>
                  <a:srgbClr val="333F52"/>
                </a:solidFill>
                <a:latin typeface="Calibri"/>
              </a:rPr>
              <a:t>Load profile captured</a:t>
            </a:r>
          </a:p>
        </p:txBody>
      </p:sp>
      <p:sp>
        <p:nvSpPr>
          <p:cNvPr id="9" name="Rounded Rectangle 8"/>
          <p:cNvSpPr/>
          <p:nvPr/>
        </p:nvSpPr>
        <p:spPr>
          <a:xfrm>
            <a:off x="4572000" y="1188720"/>
            <a:ext cx="3840480" cy="3657600"/>
          </a:xfrm>
          <a:prstGeom prst="roundRect">
            <a:avLst>
              <a:gd name="adj" fmla="val 5000"/>
            </a:avLst>
          </a:prstGeom>
          <a:solidFill>
            <a:srgbClr val="FFFFFF"/>
          </a:solidFill>
          <a:ln w="9525">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0" y="1188720"/>
            <a:ext cx="3840480" cy="50292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1252728"/>
            <a:ext cx="3474720" cy="457200"/>
          </a:xfrm>
          <a:prstGeom prst="rect">
            <a:avLst/>
          </a:prstGeom>
          <a:noFill/>
        </p:spPr>
        <p:txBody>
          <a:bodyPr wrap="none">
            <a:spAutoFit/>
          </a:bodyPr>
          <a:lstStyle/>
          <a:p>
            <a:r>
              <a:rPr sz="1100" b="1" i="0">
                <a:solidFill>
                  <a:srgbClr val="FFFFFF"/>
                </a:solidFill>
                <a:latin typeface="Calibri"/>
              </a:rPr>
              <a:t>Phase 2</a:t>
            </a:r>
          </a:p>
          <a:p>
            <a:r>
              <a:rPr sz="1500" b="1" i="0">
                <a:solidFill>
                  <a:srgbClr val="FFFFFF"/>
                </a:solidFill>
                <a:latin typeface="Calibri"/>
              </a:rPr>
              <a:t>Real data</a:t>
            </a:r>
          </a:p>
        </p:txBody>
      </p:sp>
      <p:sp>
        <p:nvSpPr>
          <p:cNvPr id="12" name="TextBox 11"/>
          <p:cNvSpPr txBox="1"/>
          <p:nvPr/>
        </p:nvSpPr>
        <p:spPr>
          <a:xfrm>
            <a:off x="4754880" y="1874520"/>
            <a:ext cx="3474720" cy="274320"/>
          </a:xfrm>
          <a:prstGeom prst="rect">
            <a:avLst/>
          </a:prstGeom>
          <a:noFill/>
        </p:spPr>
        <p:txBody>
          <a:bodyPr wrap="none">
            <a:spAutoFit/>
          </a:bodyPr>
          <a:lstStyle/>
          <a:p>
            <a:r>
              <a:rPr sz="1000" b="1" i="0">
                <a:solidFill>
                  <a:srgbClr val="D97306"/>
                </a:solidFill>
                <a:latin typeface="Calibri"/>
              </a:rPr>
              <a:t>IN FLIGHT</a:t>
            </a:r>
          </a:p>
        </p:txBody>
      </p:sp>
      <p:sp>
        <p:nvSpPr>
          <p:cNvPr id="13" name="TextBox 12"/>
          <p:cNvSpPr txBox="1"/>
          <p:nvPr/>
        </p:nvSpPr>
        <p:spPr>
          <a:xfrm>
            <a:off x="4800600" y="2240280"/>
            <a:ext cx="3383280" cy="2468880"/>
          </a:xfrm>
          <a:prstGeom prst="rect">
            <a:avLst/>
          </a:prstGeom>
          <a:noFill/>
        </p:spPr>
        <p:txBody>
          <a:bodyPr wrap="square">
            <a:spAutoFit/>
          </a:bodyPr>
          <a:lstStyle/>
          <a:p>
            <a:pPr>
              <a:lnSpc>
                <a:spcPct val="125000"/>
              </a:lnSpc>
            </a:pPr>
            <a:r>
              <a:rPr sz="1200" b="1" i="0">
                <a:solidFill>
                  <a:srgbClr val="D97306"/>
                </a:solidFill>
                <a:latin typeface="Calibri"/>
              </a:rPr>
              <a:t>•  </a:t>
            </a:r>
            <a:r>
              <a:rPr sz="1200" b="0" i="0">
                <a:solidFill>
                  <a:srgbClr val="333F52"/>
                </a:solidFill>
                <a:latin typeface="Calibri"/>
              </a:rPr>
              <a:t>Data contract sign-off</a:t>
            </a:r>
          </a:p>
          <a:p>
            <a:pPr>
              <a:lnSpc>
                <a:spcPct val="125000"/>
              </a:lnSpc>
            </a:pPr>
            <a:r>
              <a:rPr sz="1200" b="1" i="0">
                <a:solidFill>
                  <a:srgbClr val="D97306"/>
                </a:solidFill>
                <a:latin typeface="Calibri"/>
              </a:rPr>
              <a:t>•  </a:t>
            </a:r>
            <a:r>
              <a:rPr sz="1200" b="0" i="0">
                <a:solidFill>
                  <a:srgbClr val="333F52"/>
                </a:solidFill>
                <a:latin typeface="Calibri"/>
              </a:rPr>
              <a:t>Ingestion of client feeds</a:t>
            </a:r>
          </a:p>
          <a:p>
            <a:pPr>
              <a:lnSpc>
                <a:spcPct val="125000"/>
              </a:lnSpc>
            </a:pPr>
            <a:r>
              <a:rPr sz="1200" b="1" i="0">
                <a:solidFill>
                  <a:srgbClr val="D97306"/>
                </a:solidFill>
                <a:latin typeface="Calibri"/>
              </a:rPr>
              <a:t>•  </a:t>
            </a:r>
            <a:r>
              <a:rPr sz="1200" b="0" i="0">
                <a:solidFill>
                  <a:srgbClr val="333F52"/>
                </a:solidFill>
                <a:latin typeface="Calibri"/>
              </a:rPr>
              <a:t>Retrain on real data</a:t>
            </a:r>
          </a:p>
          <a:p>
            <a:pPr>
              <a:lnSpc>
                <a:spcPct val="125000"/>
              </a:lnSpc>
            </a:pPr>
            <a:r>
              <a:rPr sz="1200" b="1" i="0">
                <a:solidFill>
                  <a:srgbClr val="D97306"/>
                </a:solidFill>
                <a:latin typeface="Calibri"/>
              </a:rPr>
              <a:t>•  </a:t>
            </a:r>
            <a:r>
              <a:rPr sz="1200" b="0" i="0">
                <a:solidFill>
                  <a:srgbClr val="333F52"/>
                </a:solidFill>
                <a:latin typeface="Calibri"/>
              </a:rPr>
              <a:t>Canary 10% → 100%</a:t>
            </a:r>
          </a:p>
        </p:txBody>
      </p:sp>
      <p:sp>
        <p:nvSpPr>
          <p:cNvPr id="14" name="Rounded Rectangle 13"/>
          <p:cNvSpPr/>
          <p:nvPr/>
        </p:nvSpPr>
        <p:spPr>
          <a:xfrm>
            <a:off x="8641080" y="1188720"/>
            <a:ext cx="3840480" cy="3657600"/>
          </a:xfrm>
          <a:prstGeom prst="roundRect">
            <a:avLst>
              <a:gd name="adj" fmla="val 5000"/>
            </a:avLst>
          </a:prstGeom>
          <a:solidFill>
            <a:srgbClr val="FFFFFF"/>
          </a:solidFill>
          <a:ln w="9525">
            <a:solidFill>
              <a:srgbClr val="D7DB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41080" y="1188720"/>
            <a:ext cx="3840480" cy="502920"/>
          </a:xfrm>
          <a:prstGeom prst="rect">
            <a:avLst/>
          </a:prstGeom>
          <a:solidFill>
            <a:srgbClr val="0F6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252728"/>
            <a:ext cx="3474720" cy="457200"/>
          </a:xfrm>
          <a:prstGeom prst="rect">
            <a:avLst/>
          </a:prstGeom>
          <a:noFill/>
        </p:spPr>
        <p:txBody>
          <a:bodyPr wrap="none">
            <a:spAutoFit/>
          </a:bodyPr>
          <a:lstStyle/>
          <a:p>
            <a:r>
              <a:rPr sz="1100" b="1" i="0">
                <a:solidFill>
                  <a:srgbClr val="FFFFFF"/>
                </a:solidFill>
                <a:latin typeface="Calibri"/>
              </a:rPr>
              <a:t>Phase 3</a:t>
            </a:r>
          </a:p>
          <a:p>
            <a:r>
              <a:rPr sz="1500" b="1" i="0">
                <a:solidFill>
                  <a:srgbClr val="FFFFFF"/>
                </a:solidFill>
                <a:latin typeface="Calibri"/>
              </a:rPr>
              <a:t>Production</a:t>
            </a:r>
          </a:p>
        </p:txBody>
      </p:sp>
      <p:sp>
        <p:nvSpPr>
          <p:cNvPr id="17" name="TextBox 16"/>
          <p:cNvSpPr txBox="1"/>
          <p:nvPr/>
        </p:nvSpPr>
        <p:spPr>
          <a:xfrm>
            <a:off x="8823960" y="1874520"/>
            <a:ext cx="3474720" cy="274320"/>
          </a:xfrm>
          <a:prstGeom prst="rect">
            <a:avLst/>
          </a:prstGeom>
          <a:noFill/>
        </p:spPr>
        <p:txBody>
          <a:bodyPr wrap="none">
            <a:spAutoFit/>
          </a:bodyPr>
          <a:lstStyle/>
          <a:p>
            <a:r>
              <a:rPr sz="1000" b="1" i="0">
                <a:solidFill>
                  <a:srgbClr val="0F6E7A"/>
                </a:solidFill>
                <a:latin typeface="Calibri"/>
              </a:rPr>
              <a:t>READY TO START</a:t>
            </a:r>
          </a:p>
        </p:txBody>
      </p:sp>
      <p:sp>
        <p:nvSpPr>
          <p:cNvPr id="18" name="TextBox 17"/>
          <p:cNvSpPr txBox="1"/>
          <p:nvPr/>
        </p:nvSpPr>
        <p:spPr>
          <a:xfrm>
            <a:off x="8869680" y="2240280"/>
            <a:ext cx="3383280" cy="2468880"/>
          </a:xfrm>
          <a:prstGeom prst="rect">
            <a:avLst/>
          </a:prstGeom>
          <a:noFill/>
        </p:spPr>
        <p:txBody>
          <a:bodyPr wrap="square">
            <a:spAutoFit/>
          </a:bodyPr>
          <a:lstStyle/>
          <a:p>
            <a:pPr>
              <a:lnSpc>
                <a:spcPct val="125000"/>
              </a:lnSpc>
            </a:pPr>
            <a:r>
              <a:rPr sz="1200" b="1" i="0">
                <a:solidFill>
                  <a:srgbClr val="0F6E7A"/>
                </a:solidFill>
                <a:latin typeface="Calibri"/>
              </a:rPr>
              <a:t>•  </a:t>
            </a:r>
            <a:r>
              <a:rPr sz="1200" b="0" i="0">
                <a:solidFill>
                  <a:srgbClr val="333F52"/>
                </a:solidFill>
                <a:latin typeface="Calibri"/>
              </a:rPr>
              <a:t>Prod Terraform workspace</a:t>
            </a:r>
          </a:p>
          <a:p>
            <a:pPr>
              <a:lnSpc>
                <a:spcPct val="125000"/>
              </a:lnSpc>
            </a:pPr>
            <a:r>
              <a:rPr sz="1200" b="1" i="0">
                <a:solidFill>
                  <a:srgbClr val="0F6E7A"/>
                </a:solidFill>
                <a:latin typeface="Calibri"/>
              </a:rPr>
              <a:t>•  </a:t>
            </a:r>
            <a:r>
              <a:rPr sz="1200" b="0" i="0">
                <a:solidFill>
                  <a:srgbClr val="333F52"/>
                </a:solidFill>
                <a:latin typeface="Calibri"/>
              </a:rPr>
              <a:t>Prod CD with approvals</a:t>
            </a:r>
          </a:p>
          <a:p>
            <a:pPr>
              <a:lnSpc>
                <a:spcPct val="125000"/>
              </a:lnSpc>
            </a:pPr>
            <a:r>
              <a:rPr sz="1200" b="1" i="0">
                <a:solidFill>
                  <a:srgbClr val="0F6E7A"/>
                </a:solidFill>
                <a:latin typeface="Calibri"/>
              </a:rPr>
              <a:t>•  </a:t>
            </a:r>
            <a:r>
              <a:rPr sz="1200" b="0" i="0">
                <a:solidFill>
                  <a:srgbClr val="333F52"/>
                </a:solidFill>
                <a:latin typeface="Calibri"/>
              </a:rPr>
              <a:t>Right-sized Vertex</a:t>
            </a:r>
          </a:p>
          <a:p>
            <a:pPr>
              <a:lnSpc>
                <a:spcPct val="125000"/>
              </a:lnSpc>
            </a:pPr>
            <a:r>
              <a:rPr sz="1200" b="1" i="0">
                <a:solidFill>
                  <a:srgbClr val="0F6E7A"/>
                </a:solidFill>
                <a:latin typeface="Calibri"/>
              </a:rPr>
              <a:t>•  </a:t>
            </a:r>
            <a:r>
              <a:rPr sz="1200" b="0" i="0">
                <a:solidFill>
                  <a:srgbClr val="333F52"/>
                </a:solidFill>
                <a:latin typeface="Calibri"/>
              </a:rPr>
              <a:t>Sign-off and handover</a:t>
            </a:r>
          </a:p>
        </p:txBody>
      </p:sp>
      <p:sp>
        <p:nvSpPr>
          <p:cNvPr id="19" name="TextBox 18"/>
          <p:cNvSpPr txBox="1"/>
          <p:nvPr/>
        </p:nvSpPr>
        <p:spPr>
          <a:xfrm>
            <a:off x="502920" y="4983480"/>
            <a:ext cx="11185855" cy="640080"/>
          </a:xfrm>
          <a:prstGeom prst="rect">
            <a:avLst/>
          </a:prstGeom>
          <a:noFill/>
        </p:spPr>
        <p:txBody>
          <a:bodyPr wrap="none">
            <a:spAutoFit/>
          </a:bodyPr>
          <a:lstStyle/>
          <a:p>
            <a:pPr algn="ctr"/>
            <a:r>
              <a:rPr sz="1100" b="0" i="1">
                <a:solidFill>
                  <a:srgbClr val="6B7380"/>
                </a:solidFill>
                <a:latin typeface="Calibri"/>
              </a:rPr>
              <a:t>Indicative timeline: ~8 weeks from kickoff, gated on data access. Each phase ends in a working, demoable artefact.</a:t>
            </a:r>
          </a:p>
        </p:txBody>
      </p:sp>
      <p:sp>
        <p:nvSpPr>
          <p:cNvPr id="20" name="Rectangle 19"/>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21" name="TextBox 20"/>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lIns="548640" tIns="164592" wrap="square"/>
          <a:lstStyle/>
          <a:p>
            <a:pPr algn="ctr"/>
            <a:r>
              <a:rPr sz="1000" b="1" i="0">
                <a:solidFill>
                  <a:srgbClr val="D97306"/>
                </a:solidFill>
                <a:latin typeface="Calibri"/>
              </a:rPr>
              <a:t>NEXT STEPS TO UNLOCK VALUE</a:t>
            </a:r>
          </a:p>
          <a:p>
            <a:r>
              <a:rPr sz="2400" b="1" i="0">
                <a:solidFill>
                  <a:srgbClr val="FFFFFF"/>
                </a:solidFill>
                <a:latin typeface="Calibri"/>
              </a:rPr>
              <a:t>What we need from you</a:t>
            </a:r>
          </a:p>
        </p:txBody>
      </p:sp>
      <p:sp>
        <p:nvSpPr>
          <p:cNvPr id="3" name="Rectangle 2"/>
          <p:cNvSpPr/>
          <p:nvPr/>
        </p:nvSpPr>
        <p:spPr>
          <a:xfrm>
            <a:off x="548640" y="868680"/>
            <a:ext cx="1097280" cy="38100"/>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1094415" cy="5303520"/>
          </a:xfrm>
          <a:prstGeom prst="rect">
            <a:avLst/>
          </a:prstGeom>
          <a:noFill/>
        </p:spPr>
        <p:txBody>
          <a:bodyPr wrap="square">
            <a:spAutoFit/>
          </a:bodyPr>
          <a:lstStyle/>
          <a:p>
            <a:pPr>
              <a:lnSpc>
                <a:spcPct val="120000"/>
              </a:lnSpc>
              <a:spcAft>
                <a:spcPts val="600"/>
              </a:spcAft>
            </a:pPr>
            <a:r>
              <a:rPr sz="1800" b="1" i="0">
                <a:solidFill>
                  <a:srgbClr val="0F6E7A"/>
                </a:solidFill>
                <a:latin typeface="Calibri"/>
              </a:rPr>
              <a:t>Three decisions</a:t>
            </a:r>
          </a:p>
          <a:p>
            <a:pPr>
              <a:lnSpc>
                <a:spcPct val="120000"/>
              </a:lnSpc>
              <a:spcAft>
                <a:spcPts val="300"/>
              </a:spcAft>
            </a:pPr>
            <a:r>
              <a:rPr sz="1400" b="1" i="0">
                <a:solidFill>
                  <a:srgbClr val="D97306"/>
                </a:solidFill>
                <a:latin typeface="Calibri"/>
              </a:rPr>
              <a:t>•  </a:t>
            </a:r>
            <a:r>
              <a:rPr sz="1400" b="0" i="0">
                <a:solidFill>
                  <a:srgbClr val="333F52"/>
                </a:solidFill>
                <a:latin typeface="Calibri"/>
              </a:rPr>
              <a:t>Sign off the data contract — schema, freshness, and PII handling for click and sales-ledger feeds.</a:t>
            </a:r>
          </a:p>
          <a:p>
            <a:pPr>
              <a:lnSpc>
                <a:spcPct val="120000"/>
              </a:lnSpc>
              <a:spcAft>
                <a:spcPts val="300"/>
              </a:spcAft>
            </a:pPr>
            <a:r>
              <a:rPr sz="1400" b="1" i="0">
                <a:solidFill>
                  <a:srgbClr val="D97306"/>
                </a:solidFill>
                <a:latin typeface="Calibri"/>
              </a:rPr>
              <a:t>•  </a:t>
            </a:r>
            <a:r>
              <a:rPr sz="1400" b="0" i="0">
                <a:solidFill>
                  <a:srgbClr val="333F52"/>
                </a:solidFill>
                <a:latin typeface="Calibri"/>
              </a:rPr>
              <a:t>Nominate one data owner and one on-call engineer on your side for joint working sessions.</a:t>
            </a:r>
          </a:p>
          <a:p>
            <a:pPr>
              <a:lnSpc>
                <a:spcPct val="120000"/>
              </a:lnSpc>
              <a:spcAft>
                <a:spcPts val="300"/>
              </a:spcAft>
            </a:pPr>
            <a:r>
              <a:rPr sz="1400" b="1" i="0">
                <a:solidFill>
                  <a:srgbClr val="D97306"/>
                </a:solidFill>
                <a:latin typeface="Calibri"/>
              </a:rPr>
              <a:t>•  </a:t>
            </a:r>
            <a:r>
              <a:rPr sz="1400" b="0" i="0">
                <a:solidFill>
                  <a:srgbClr val="333F52"/>
                </a:solidFill>
                <a:latin typeface="Calibri"/>
              </a:rPr>
              <a:t>Confirm production GCP project (or authorise a prod-isolated namespace in the existing one).</a:t>
            </a:r>
          </a:p>
          <a:p>
            <a:pPr>
              <a:lnSpc>
                <a:spcPct val="120000"/>
              </a:lnSpc>
              <a:spcAft>
                <a:spcPts val="600"/>
              </a:spcAft>
            </a:pPr>
            <a:r>
              <a:rPr sz="1800" b="1" i="0">
                <a:solidFill>
                  <a:srgbClr val="0F6E7A"/>
                </a:solidFill>
                <a:latin typeface="Calibri"/>
              </a:rPr>
              <a:t>Two artefacts we will share this week</a:t>
            </a:r>
          </a:p>
          <a:p>
            <a:pPr>
              <a:lnSpc>
                <a:spcPct val="120000"/>
              </a:lnSpc>
              <a:spcAft>
                <a:spcPts val="300"/>
              </a:spcAft>
            </a:pPr>
            <a:r>
              <a:rPr sz="1400" b="1" i="0">
                <a:solidFill>
                  <a:srgbClr val="D97306"/>
                </a:solidFill>
                <a:latin typeface="Calibri"/>
              </a:rPr>
              <a:t>•  </a:t>
            </a:r>
            <a:r>
              <a:rPr sz="1400" b="0" i="0">
                <a:solidFill>
                  <a:srgbClr val="333F52"/>
                </a:solidFill>
                <a:latin typeface="Calibri"/>
              </a:rPr>
              <a:t>A short data-contract template ready for legal and engineering review.</a:t>
            </a:r>
          </a:p>
          <a:p>
            <a:pPr>
              <a:lnSpc>
                <a:spcPct val="120000"/>
              </a:lnSpc>
              <a:spcAft>
                <a:spcPts val="300"/>
              </a:spcAft>
            </a:pPr>
            <a:r>
              <a:rPr sz="1400" b="1" i="0">
                <a:solidFill>
                  <a:srgbClr val="D97306"/>
                </a:solidFill>
                <a:latin typeface="Calibri"/>
              </a:rPr>
              <a:t>•  </a:t>
            </a:r>
            <a:r>
              <a:rPr sz="1400" b="0" i="0">
                <a:solidFill>
                  <a:srgbClr val="333F52"/>
                </a:solidFill>
                <a:latin typeface="Calibri"/>
              </a:rPr>
              <a:t>Read-only access to the live staging environment for your team to probe.</a:t>
            </a:r>
          </a:p>
          <a:p>
            <a:pPr>
              <a:lnSpc>
                <a:spcPct val="120000"/>
              </a:lnSpc>
              <a:spcAft>
                <a:spcPts val="600"/>
              </a:spcAft>
            </a:pPr>
            <a:r>
              <a:rPr sz="1800" b="1" i="0">
                <a:solidFill>
                  <a:srgbClr val="0F6E7A"/>
                </a:solidFill>
                <a:latin typeface="Calibri"/>
              </a:rPr>
              <a:t>What you get in eight weeks</a:t>
            </a:r>
          </a:p>
          <a:p>
            <a:pPr>
              <a:lnSpc>
                <a:spcPct val="120000"/>
              </a:lnSpc>
              <a:spcAft>
                <a:spcPts val="300"/>
              </a:spcAft>
            </a:pPr>
            <a:r>
              <a:rPr sz="1400" b="1" i="0">
                <a:solidFill>
                  <a:srgbClr val="D97306"/>
                </a:solidFill>
                <a:latin typeface="Calibri"/>
              </a:rPr>
              <a:t>•  </a:t>
            </a:r>
            <a:r>
              <a:rPr sz="1400" b="0" i="0">
                <a:solidFill>
                  <a:srgbClr val="333F52"/>
                </a:solidFill>
                <a:latin typeface="Calibri"/>
              </a:rPr>
              <a:t>A production service, on your data, with your on-call team in the cockpit and a signed handover.</a:t>
            </a:r>
          </a:p>
        </p:txBody>
      </p:sp>
      <p:sp>
        <p:nvSpPr>
          <p:cNvPr id="5" name="Rectangle 4"/>
          <p:cNvSpPr/>
          <p:nvPr/>
        </p:nvSpPr>
        <p:spPr>
          <a:xfrm>
            <a:off x="0" y="6537960"/>
            <a:ext cx="12191695" cy="320040"/>
          </a:xfrm>
          <a:prstGeom prst="rect">
            <a:avLst/>
          </a:prstGeom>
          <a:solidFill>
            <a:srgbClr val="F4F6FA"/>
          </a:solidFill>
          <a:ln>
            <a:noFill/>
          </a:ln>
        </p:spPr>
        <p:style>
          <a:lnRef idx="1">
            <a:schemeClr val="accent1"/>
          </a:lnRef>
          <a:fillRef idx="3">
            <a:schemeClr val="accent1"/>
          </a:fillRef>
          <a:effectRef idx="2">
            <a:schemeClr val="accent1"/>
          </a:effectRef>
          <a:fontRef idx="minor">
            <a:schemeClr val="lt1"/>
          </a:fontRef>
        </p:style>
        <p:txBody>
          <a:bodyPr rtlCol="0" anchor="ctr" lIns="548640" tIns="54864"/>
          <a:lstStyle/>
          <a:p>
            <a:pPr algn="ctr"/>
            <a:r>
              <a:rPr sz="900" b="0" i="0">
                <a:solidFill>
                  <a:srgbClr val="6B7380"/>
                </a:solidFill>
                <a:latin typeface="Calibri"/>
              </a:rPr>
              <a:t>Predictive RPC Estimator — Client Demo</a:t>
            </a:r>
          </a:p>
        </p:txBody>
      </p:sp>
      <p:sp>
        <p:nvSpPr>
          <p:cNvPr id="6" name="TextBox 5"/>
          <p:cNvSpPr txBox="1"/>
          <p:nvPr/>
        </p:nvSpPr>
        <p:spPr>
          <a:xfrm>
            <a:off x="11094415" y="6547104"/>
            <a:ext cx="914400" cy="274320"/>
          </a:xfrm>
          <a:prstGeom prst="rect">
            <a:avLst/>
          </a:prstGeom>
          <a:noFill/>
        </p:spPr>
        <p:txBody>
          <a:bodyPr wrap="none">
            <a:spAutoFit/>
          </a:bodyPr>
          <a:lstStyle/>
          <a:p>
            <a:pPr algn="r"/>
            <a:r>
              <a:rPr sz="900" b="0" i="0">
                <a:solidFill>
                  <a:srgbClr val="6B7380"/>
                </a:solidFill>
                <a:latin typeface="Calibri"/>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D973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828800"/>
            <a:ext cx="10972800" cy="1097280"/>
          </a:xfrm>
          <a:prstGeom prst="rect">
            <a:avLst/>
          </a:prstGeom>
          <a:noFill/>
        </p:spPr>
        <p:txBody>
          <a:bodyPr wrap="none">
            <a:spAutoFit/>
          </a:bodyPr>
          <a:lstStyle/>
          <a:p>
            <a:r>
              <a:rPr sz="5400" b="1" i="0">
                <a:solidFill>
                  <a:srgbClr val="FFFFFF"/>
                </a:solidFill>
                <a:latin typeface="Calibri"/>
              </a:rPr>
              <a:t>Questions?</a:t>
            </a:r>
          </a:p>
        </p:txBody>
      </p:sp>
      <p:sp>
        <p:nvSpPr>
          <p:cNvPr id="5" name="TextBox 4"/>
          <p:cNvSpPr txBox="1"/>
          <p:nvPr/>
        </p:nvSpPr>
        <p:spPr>
          <a:xfrm>
            <a:off x="640080" y="3108960"/>
            <a:ext cx="10972800" cy="914400"/>
          </a:xfrm>
          <a:prstGeom prst="rect">
            <a:avLst/>
          </a:prstGeom>
          <a:noFill/>
        </p:spPr>
        <p:txBody>
          <a:bodyPr wrap="none">
            <a:spAutoFit/>
          </a:bodyPr>
          <a:lstStyle/>
          <a:p>
            <a:r>
              <a:rPr sz="1800" b="0" i="0">
                <a:solidFill>
                  <a:srgbClr val="F4F6FA"/>
                </a:solidFill>
                <a:latin typeface="Calibri"/>
              </a:rPr>
              <a:t>Predictive RPC Estimator  ·  Live demo  ·  Q&amp;A</a:t>
            </a:r>
          </a:p>
        </p:txBody>
      </p:sp>
      <p:sp>
        <p:nvSpPr>
          <p:cNvPr id="6" name="TextBox 5"/>
          <p:cNvSpPr txBox="1"/>
          <p:nvPr/>
        </p:nvSpPr>
        <p:spPr>
          <a:xfrm>
            <a:off x="640080" y="6126480"/>
            <a:ext cx="10972800" cy="365760"/>
          </a:xfrm>
          <a:prstGeom prst="rect">
            <a:avLst/>
          </a:prstGeom>
          <a:noFill/>
        </p:spPr>
        <p:txBody>
          <a:bodyPr wrap="none">
            <a:spAutoFit/>
          </a:bodyPr>
          <a:lstStyle/>
          <a:p>
            <a:r>
              <a:rPr sz="1100" b="0" i="0">
                <a:solidFill>
                  <a:srgbClr val="D97306"/>
                </a:solidFill>
                <a:latin typeface="Calibri"/>
              </a:rPr>
              <a:t>Live dashboard  ·  https://dashboard-staging-794974391956.europe-west2.run.app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